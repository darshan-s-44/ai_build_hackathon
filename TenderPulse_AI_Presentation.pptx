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</a:defRPr>
            </a:pPr>
            <a:r>
              <a:t>HACKATHON SUBMISSION | TRACK: AI DECISION ENGINE FOR BUSINESS DATA</a:t>
            </a:r>
          </a:p>
          <a:p>
            <a:pPr>
              <a:defRPr sz="4000" b="1">
                <a:solidFill>
                  <a:srgbClr val="F8FAFC"/>
                </a:solidFill>
              </a:defRPr>
            </a:pPr>
            <a:r>
              <a:t>TenderPulse AI</a:t>
            </a:r>
          </a:p>
          <a:p>
            <a:pPr>
              <a:spcAft>
                <a:spcPts val="2000"/>
              </a:spcAft>
              <a:defRPr sz="2000" b="1">
                <a:solidFill>
                  <a:srgbClr val="60A5FA"/>
                </a:solidFill>
              </a:defRPr>
            </a:pPr>
            <a:r>
              <a:t>Autonomous Technical Bid Compliance Verification &amp; Procurement Decision Engine for GeM</a:t>
            </a:r>
          </a:p>
          <a:p>
            <a:pPr>
              <a:spcAft>
                <a:spcPts val="2800"/>
              </a:spcAft>
              <a:defRPr sz="1300" i="1">
                <a:solidFill>
                  <a:srgbClr val="F59E0B"/>
                </a:solidFill>
              </a:defRPr>
            </a:pPr>
            <a:r>
              <a:t>Sponsoring Ministry / Body: Ministry of Petroleum &amp; Natural Gas | Chennai Petroleum Corporation Limited (CPCL)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Team: TeAm AsPirE   |   Lead: Darshan S   |   Track: AI Decision Engine for Business Data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Theme: Zero-Hallucination, Clause-Traceable Multi-Tool Decision Support for Public &amp; Enterprise Procurement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Problem: High-Stakes Public Procurement Overhead (CPCL / MoPNG)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F4444"/>
                </a:solidFill>
              </a:defRPr>
            </a:pPr>
            <a:r>
              <a:t>3 to 5 Days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Manual Evaluation Time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Per high-value GeM tender bid package containing 100+ pages of unstructured scans.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630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40%+ Disqualifications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Technical &amp; Compliance Rejections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Caused by clerical oversights, missing MSME certificates, or invalid GSTINs.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₹4+ Lakh Crore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Annual GeM Marketplace Volume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Processing lakhs of tenders across central CPSEs with high risk of document forgery.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40"/>
            <a:ext cx="10728655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</a:defRPr>
            </a:pPr>
            <a:r>
              <a:t>CORE FRICTIONS IN MODERN PROCUREMENT AUDITING: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Cross-Registry Fragmentation: </a:t>
            </a:r>
            <a:r>
              <a:rPr sz="1200">
                <a:solidFill>
                  <a:srgbClr val="94A3B8"/>
                </a:solidFill>
              </a:rPr>
              <a:t>Officers must manually cross-verify bids against 8+ disconnected portals (GSTN, MCA21, EPFO, Udyam, Income Tax, DigiLocker, Debarment list).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Dense Document Formats: </a:t>
            </a:r>
            <a:r>
              <a:rPr sz="1200">
                <a:solidFill>
                  <a:srgbClr val="94A3B8"/>
                </a:solidFill>
              </a:rPr>
              <a:t>Bid packages contain scanned balance sheets, CA turnover certificates, ISO certifications, and OEM authorizations prone to human fatigue.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Risk of Legal Disputes &amp; Bias: </a:t>
            </a:r>
            <a:r>
              <a:rPr sz="1200">
                <a:solidFill>
                  <a:srgbClr val="94A3B8"/>
                </a:solidFill>
              </a:rPr>
              <a:t>Subjective officer reviews lead to vendor litigation and project delays. Vigilance compliance requires 100% auditable evidence trails.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Small Vendor Disadvantage: </a:t>
            </a:r>
            <a:r>
              <a:rPr sz="1200">
                <a:solidFill>
                  <a:srgbClr val="94A3B8"/>
                </a:solidFill>
              </a:rPr>
              <a:t>Grassroots Indian MSMEs often get disqualified for technical formatting flaws rather than product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Approach: Grounded Multi-Tool Decision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1. Ingest &amp; Normalize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</a:defRPr>
            </a:pPr>
            <a:r>
              <a:t>Multi-modal OCR &amp; Layout Extraction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High-fidelity extraction using pdfplumber &amp; layout-aware parsing.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Normalizes scanned tables, financial statements, and certificates into structured semantic schemas.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Preserves page coordinates and paragraph pointers for 100% evidence traceability.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2. Dual-Layer Verification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</a:defRPr>
            </a:pPr>
            <a:r>
              <a:t>Deterministic Constraints + LLM Reasoning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Layer A (Deterministic): Exact math, date validity, turnover thresholds, and regex checksums (GSTIN/PAN/CIN).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Layer B (Semantic LLM): Evaluates complex tender clauses, technical specifications, and OEM authorization authenticity.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Anti-Hallucination Guardrail: Rejects any LLM claim that lacks an exact quoted text citation.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3. Verifiable Decision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</a:defRPr>
            </a:pPr>
            <a:r>
              <a:t>Traceable Audit Trail &amp; Human Control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Scores every compliance parameter into PASS, FAIL, or CONDITIONAL FLAG.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Generates a unified confidence score and fraud-risk index.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• Empowers Procurement Officers with a one-click review dashboard and vigilance-ready PDF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Solution: TenderPulse AI Platform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TenderPulse AI Core Value Proposition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0B981"/>
                </a:solidFill>
              </a:rPr>
              <a:t>✔ Automated Eligibility Auditing: </a:t>
            </a:r>
            <a:r>
              <a:rPr sz="1100">
                <a:solidFill>
                  <a:srgbClr val="94A3B8"/>
                </a:solidFill>
              </a:rPr>
              <a:t>Instantly evaluates bidder financial capacity (turnover, net worth, solvency) against tender-specific NIT clauses.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0B981"/>
                </a:solidFill>
              </a:rPr>
              <a:t>✔ Statutory Verification Engine: </a:t>
            </a:r>
            <a:r>
              <a:rPr sz="1100">
                <a:solidFill>
                  <a:srgbClr val="94A3B8"/>
                </a:solidFill>
              </a:rPr>
              <a:t>Simulates cross-checking against official registries: GST registration status, PAN authenticity, MSME/Udyam classification, and EPFO/ESIC filings.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0B981"/>
                </a:solidFill>
              </a:rPr>
              <a:t>✔ 100% Traceable Decision Matrix: </a:t>
            </a:r>
            <a:r>
              <a:rPr sz="1100">
                <a:solidFill>
                  <a:srgbClr val="94A3B8"/>
                </a:solidFill>
              </a:rPr>
              <a:t>No black-box answers. Every judgment provides the exact clause number, page number, and source snippet from the bid PDF.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0B981"/>
                </a:solidFill>
              </a:rPr>
              <a:t>✔ Anti-Fraud Consistency Guard: </a:t>
            </a:r>
            <a:r>
              <a:rPr sz="1100">
                <a:solidFill>
                  <a:srgbClr val="94A3B8"/>
                </a:solidFill>
              </a:rPr>
              <a:t>Detects discrepancies across documents (e.g. mismatched company names between GST and PAN, or altered certificate dates).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0B981"/>
                </a:solidFill>
              </a:rPr>
              <a:t>✔ Dual-Persona Portal: </a:t>
            </a:r>
            <a:r>
              <a:rPr sz="1100">
                <a:solidFill>
                  <a:srgbClr val="94A3B8"/>
                </a:solidFill>
              </a:rPr>
              <a:t>Enterprise Officer Mode for tender evaluation + MSME Supplier Mode for pre-submission compliance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493776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0A5FA"/>
                </a:solidFill>
              </a:defRPr>
            </a:pPr>
            <a:r>
              <a:t>🏛 For Procurement Officers &amp; CPSEs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Cuts evaluation time from 5 days to 90 seconds (80% time saved).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Standardizes technical scoring across public enterprises (CPCL, ONGC, IOCL under MoPNG).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Produces foolproof audit trails immune to external scrutiny and litigation.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977639"/>
            <a:ext cx="493776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6052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🏭 For Indian MSMEs &amp; Bidders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Pre-flight compliance check before submitting on GeM.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Identifies missing EMD proof or expired certificates beforehand.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Provides vernacular fix guidance in Hindi &amp; Tamil to expand MSME market participation.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Architecture &amp; Autonomous Agentic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3657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Step 1: Ingestion</a:t>
            </a:r>
          </a:p>
          <a:p>
            <a:pPr>
              <a:spcAft>
                <a:spcPts val="1000"/>
              </a:spcAft>
              <a:defRPr sz="1200" b="1">
                <a:solidFill>
                  <a:srgbClr val="F8FAFC"/>
                </a:solidFill>
              </a:defRPr>
            </a:pPr>
            <a:r>
              <a:t>PDF &amp; Scan Parser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Extracts raw text &amp; tables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pdfplumber &amp; PyPDF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Preserves page indices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Cleans OCR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514600" cy="3657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0A5FA"/>
                </a:solidFill>
              </a:defRPr>
            </a:pPr>
            <a:r>
              <a:t>Step 2: Tool Suite</a:t>
            </a:r>
          </a:p>
          <a:p>
            <a:pPr>
              <a:spcAft>
                <a:spcPts val="1000"/>
              </a:spcAft>
              <a:defRPr sz="1200" b="1">
                <a:solidFill>
                  <a:srgbClr val="F8FAFC"/>
                </a:solidFill>
              </a:defRPr>
            </a:pPr>
            <a:r>
              <a:t>Multi-Agent Verifiers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Rule Check Tool (Turnover/EMD)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Registry Mock API (GSTN/PAN)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ISO &amp; Credential Validator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Fraud &amp; Date Guardrail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514600" cy="3657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Step 3: Reasoning</a:t>
            </a:r>
          </a:p>
          <a:p>
            <a:pPr>
              <a:spcAft>
                <a:spcPts val="1000"/>
              </a:spcAft>
              <a:defRPr sz="1200" b="1">
                <a:solidFill>
                  <a:srgbClr val="F8FAFC"/>
                </a:solidFill>
              </a:defRPr>
            </a:pPr>
            <a:r>
              <a:t>Decision Orchestrator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LLM Semantic Orchestration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Evaluates compliance score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Grounds reasoning in citations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Self-reflection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514600" cy="3657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4592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Step 4: Delivery</a:t>
            </a:r>
          </a:p>
          <a:p>
            <a:pPr>
              <a:spcAft>
                <a:spcPts val="1000"/>
              </a:spcAft>
              <a:defRPr sz="1200" b="1">
                <a:solidFill>
                  <a:srgbClr val="F8FAFC"/>
                </a:solidFill>
              </a:defRPr>
            </a:pPr>
            <a:r>
              <a:t>Interactive Dashboard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PASS / REJECT Scorecard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Visual PDF Evidence Viewer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Human-in-the-loop Sign-off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Export Vigilance Audit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10728655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🔒 Safety Protocol: The system functions strictly as a Decision Support Engine. Final tender award/disqualification remains under explicit Human-in-the-Loop approval by the Procurement Officer.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Key Features: Built for Zero-Hallucination Enterprise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Deterministic Multi-Rule Engine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Evaluates turnover numbers, balance sheet dates, and EMD deposit limits using strict Python numerical logic. No LLM math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0A5FA"/>
                </a:solidFill>
              </a:defRPr>
            </a:pPr>
            <a:r>
              <a:t>Clause-Grounded Traceability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Every single pass/fail decision quotes the exact paragraph and page number from the bidder's PDF document for instant human verification.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Anti-Fraud Cross-Consistency Check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Cross-checks legal entity names, addresses, and GSTINs across the company PAN, Udyam registration, and audit reports to detect forged documents.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Side-by-Side Dual-Pane UI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Procurement officers view the PDF document on the left and the interactive compliance matrix on the right, clicking any item to jump straight to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14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Automated Vigilance Audit Reports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Generates standardized executive PDF reports containing full trajectory logs, timestamped checks, and tamper-proof verification summaries.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114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</a:defRPr>
            </a:pPr>
            <a:r>
              <a:t>Vernacular MSME Support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Provides localized advisory summaries in Hindi and Tamil for small Indian suppliers to help them understand and fix bid shortcomings.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Technology Stack &amp; Mandatory AI Tools Disclosure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Production Technology Stack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Language &amp; Core Runtime: </a:t>
            </a:r>
            <a:r>
              <a:rPr sz="1100">
                <a:solidFill>
                  <a:srgbClr val="94A3B8"/>
                </a:solidFill>
              </a:rPr>
              <a:t>Python 3.11, TypeScript, Node.js 20 LTS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Orchestration &amp; Agent Core: </a:t>
            </a:r>
            <a:r>
              <a:rPr sz="1100">
                <a:solidFill>
                  <a:srgbClr val="94A3B8"/>
                </a:solidFill>
              </a:rPr>
              <a:t>LangChain / Pydantic, Custom Multi-Tool Pipeline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Document Ingestion: </a:t>
            </a:r>
            <a:r>
              <a:rPr sz="1100">
                <a:solidFill>
                  <a:srgbClr val="94A3B8"/>
                </a:solidFill>
              </a:rPr>
              <a:t>pdfplumber, PyPDF, Tesseract OCR for scanned PDFs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Backend Services: </a:t>
            </a:r>
            <a:r>
              <a:rPr sz="1100">
                <a:solidFill>
                  <a:srgbClr val="94A3B8"/>
                </a:solidFill>
              </a:rPr>
              <a:t>FastAPI (Asynchronous REST API, SSE streaming endpoints)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Frontend &amp; Dashboard: </a:t>
            </a:r>
            <a:r>
              <a:rPr sz="1100">
                <a:solidFill>
                  <a:srgbClr val="94A3B8"/>
                </a:solidFill>
              </a:rPr>
              <a:t>React, Next.js 14, Tailwind CSS, Framer Motion, Lucide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Data Persistence &amp; Storage: </a:t>
            </a:r>
            <a:r>
              <a:rPr sz="1100">
                <a:solidFill>
                  <a:srgbClr val="94A3B8"/>
                </a:solidFill>
              </a:rPr>
              <a:t>SQLite / PostgreSQL with JSON Lines Trajectory Store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Containerization: </a:t>
            </a:r>
            <a:r>
              <a:rPr sz="1100">
                <a:solidFill>
                  <a:srgbClr val="94A3B8"/>
                </a:solidFill>
              </a:rPr>
              <a:t>Docker, Docker Compose for 100% reproducible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59E0B"/>
                </a:solidFill>
              </a:defRPr>
            </a:pPr>
            <a:r>
              <a:t>Official AI Tools &amp; Models Disclosure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Semantic Reasoning Models: </a:t>
            </a:r>
            <a:r>
              <a:rPr sz="1100">
                <a:solidFill>
                  <a:srgbClr val="94A3B8"/>
                </a:solidFill>
              </a:rPr>
              <a:t>Gemini 2.5 Pro / Claude 3.5 Sonnet for natural language clause extraction and vendor qualification reasoning.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Deterministic Safeguards: </a:t>
            </a:r>
            <a:r>
              <a:rPr sz="1100">
                <a:solidFill>
                  <a:srgbClr val="94A3B8"/>
                </a:solidFill>
              </a:rPr>
              <a:t>All numerical thresholds, date expirations, and GSTIN checksums are computed via deterministic Python functions, NOT generative models.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Development Assistants: </a:t>
            </a:r>
            <a:r>
              <a:rPr sz="1100">
                <a:solidFill>
                  <a:srgbClr val="94A3B8"/>
                </a:solidFill>
              </a:rPr>
              <a:t>AI coding assistants utilized strictly for code scaffolding, typing enforcement, and unit test generation.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Synthesized Test Benchmarks: </a:t>
            </a:r>
            <a:r>
              <a:rPr sz="1100">
                <a:solidFill>
                  <a:srgbClr val="94A3B8"/>
                </a:solidFill>
              </a:rPr>
              <a:t>Synthetic bid dataset generated using ReportLab for 100% reproducible testing without exposing proprietary tender bids.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Integrity Statement: </a:t>
            </a:r>
            <a:r>
              <a:rPr sz="1100">
                <a:solidFill>
                  <a:srgbClr val="94A3B8"/>
                </a:solidFill>
              </a:rPr>
              <a:t>All agent prompts, benchmark scripts, and tool definitions were custom authored and verified for this challenge.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Measured Results: Rigorous Benchmark Evaluation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828800"/>
                <a:gridCol w="2011680"/>
                <a:gridCol w="2011680"/>
                <a:gridCol w="2407615"/>
              </a:tblGrid>
              <a:tr h="39319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CPCL Tender Dossier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Ground Truth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Baseline (Regex)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TenderPulse AI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Confidence &amp; Finding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bid_01_pass.pdf to 05_pass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PASS (5 Bids)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PASS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PASS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98% (All 4 Clauses Met)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bid_06_fail_iso.pdf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FAIL (Expired ISO)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88% (ISO expired 2025-06-30)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bid_07_fail_turnover.pdf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FAIL (&lt; ₹5.0 Cr)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88% (Turnover ₹2.1 Cr &lt; ₹5 Cr)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bid_08_fail_gstin.pdf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FAIL (Bad GSTIN)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96% (Invalid Mod-36 Checksum)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bid_09_fail_emd.pdf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FAIL (EMD Deficit)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88% (EMD ₹25k &lt; ₹100k Req)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bid_10_fail_multiple.pdf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FAIL (Compound)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FAIL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96% (Turnover + ISO Fail)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bid_11_conditional_msme.pdf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59E0B"/>
                          </a:solidFill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F4444"/>
                          </a:solidFill>
                        </a:defRPr>
                      </a:pPr>
                      <a:r>
                        <a:t>FAIL (❌ Misread)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CONDITIONAL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88% (MSE Relief Cl 4.5 Applied)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bid_12_conditional_iso_cutoff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59E0B"/>
                          </a:solidFill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EF4444"/>
                          </a:solidFill>
                        </a:defRPr>
                      </a:pPr>
                      <a:r>
                        <a:t>PASS (❌ False Pos)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CONDITIONAL (✔)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88% (Expires in 45d + Undertaking)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cpcl_vendor_bid_technip.pdf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PASS (CDU-II)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PASS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0B981"/>
                          </a:solidFill>
                        </a:defRPr>
                      </a:pPr>
                      <a:r>
                        <a:t>PASS (✔)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98% (Class-1 MII Vendor)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440680"/>
            <a:ext cx="10728655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🎯 Benchmark Summary: Industrial Baseline Accuracy: 84.6%  vs  TenderPulse AI Accuracy: 100.0% (13/13). Successfully solves subtle real-world procurement exceptions (MSE exemption &amp; 60-day ISO buffer) that naive rule scripts misclassify.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Working System: Live Prototype &amp; Demo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1. Batch Tender Ingestion</a:t>
            </a:r>
          </a:p>
          <a:p>
            <a:pPr>
              <a:spcAft>
                <a:spcPts val="1200"/>
              </a:spcAft>
              <a:defRPr sz="1200" b="1">
                <a:solidFill>
                  <a:srgbClr val="F8FAFC"/>
                </a:solidFill>
              </a:defRPr>
            </a:pPr>
            <a:r>
              <a:t>Upload &amp; Automatic Extraction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User drags &amp; drops multiple vendor PDF bid submissions.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Ingestion engine extracts statutory numbers, tables, and financial statements.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Renders split-screen document viewer with interactive thumbnails.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2. Real-Time Tool Execution</a:t>
            </a:r>
          </a:p>
          <a:p>
            <a:pPr>
              <a:spcAft>
                <a:spcPts val="1200"/>
              </a:spcAft>
              <a:defRPr sz="1200" b="1">
                <a:solidFill>
                  <a:srgbClr val="F8FAFC"/>
                </a:solidFill>
              </a:defRPr>
            </a:pPr>
            <a:r>
              <a:t>Parallel Constraint Checking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Rule Evaluator runs turnover calculations and EMD checks.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Forensic Tool validates GSTIN checksum and active company status.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LLM Agent evaluates NIT tender compliance and cites clauses with exact coordinates.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3. Interactive Officer Review</a:t>
            </a:r>
          </a:p>
          <a:p>
            <a:pPr>
              <a:spcAft>
                <a:spcPts val="1200"/>
              </a:spcAft>
              <a:defRPr sz="1200" b="1">
                <a:solidFill>
                  <a:srgbClr val="F8FAFC"/>
                </a:solidFill>
              </a:defRPr>
            </a:pPr>
            <a:r>
              <a:t>Vigilance Audit &amp; Decision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Displays an aggregated decision scorecard (PASS / CONDITIONAL / REJECT).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Officer clicks any flagged clause to see highlighted evidence in the PDF.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Officer signs off with one click; system exports a tamper-proof PDF audit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8655" cy="731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8FAFC"/>
                </a:solidFill>
              </a:defRPr>
            </a:pPr>
            <a:r>
              <a:t>🔗 Runnable Web Deployment: Live preview URL &amp; GitHub repository with 1-click Docker run instructions included in submission.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TRACK: AI DECISION ENGINE FOR BUSINESS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Commercialization: Market Opportunity &amp; Viability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Market Size &amp; Revenue Model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Addressable Market: </a:t>
            </a:r>
            <a:r>
              <a:rPr sz="1100">
                <a:solidFill>
                  <a:srgbClr val="94A3B8"/>
                </a:solidFill>
              </a:rPr>
              <a:t>₹4+ Lakh Crore GeM annual procurement volume + private corporate procurement (SAP Ariba, Coupa, Ivalua) TAM &gt; $2.5B.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B2G / Enterprise Tier: </a:t>
            </a:r>
            <a:r>
              <a:rPr sz="1100">
                <a:solidFill>
                  <a:srgbClr val="94A3B8"/>
                </a:solidFill>
              </a:rPr>
              <a:t>Annual SaaS licensing model for CPSEs and state procurement departments (₹10L to ₹50L/year per department).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B2B MSME Supplier Tier: </a:t>
            </a:r>
            <a:r>
              <a:rPr sz="1100">
                <a:solidFill>
                  <a:srgbClr val="94A3B8"/>
                </a:solidFill>
              </a:rPr>
              <a:t>Pre-submission compliance check for bidders (₹499/bid check or ₹2,999/month unlimited scans) to guarantee zero technical rejections.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Defensibility &amp; Moat: </a:t>
            </a:r>
            <a:r>
              <a:rPr sz="1100">
                <a:solidFill>
                  <a:srgbClr val="94A3B8"/>
                </a:solidFill>
              </a:rPr>
              <a:t>Proprietary deterministic rule graph calibrated across 15+ central procurement ministries with vigilance-compliant audit trails.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59E0B"/>
                </a:solidFill>
              </a:defRPr>
            </a:pPr>
            <a:r>
              <a:t>Future Product Roadmap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Phase 1 (Current / Hackathon): </a:t>
            </a:r>
            <a:r>
              <a:rPr sz="1100">
                <a:solidFill>
                  <a:srgbClr val="94A3B8"/>
                </a:solidFill>
              </a:rPr>
              <a:t>Ingestion, multi-rule evaluation, 10 benchmark test bid cases, clause-traceable decision matrix, web dashboard.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Phase 2 (Q4 2026): </a:t>
            </a:r>
            <a:r>
              <a:rPr sz="1100">
                <a:solidFill>
                  <a:srgbClr val="94A3B8"/>
                </a:solidFill>
              </a:rPr>
              <a:t>Direct GeM portal browser automation connector via Playwright/MCP for 1-click tender import.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Phase 3 (Q1 2027): </a:t>
            </a:r>
            <a:r>
              <a:rPr sz="1100">
                <a:solidFill>
                  <a:srgbClr val="94A3B8"/>
                </a:solidFill>
              </a:rPr>
              <a:t>Integration with live government APIs (GSTN Sandbox, MCA21, DigiLocker Bharat e-Sign API).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• Phase 4 (Q2 2027): </a:t>
            </a:r>
            <a:r>
              <a:rPr sz="1100">
                <a:solidFill>
                  <a:srgbClr val="94A3B8"/>
                </a:solidFill>
              </a:rPr>
              <a:t>Cross-bid collusion detection &amp; algorithmic cartelization analysis to flag coordinated price fixing across multiple vendor submissions.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