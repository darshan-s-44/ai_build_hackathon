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7825" cx="12191675"/>
  <p:notesSz cx="6858000" cy="9144000"/>
  <p:embeddedFontLst>
    <p:embeddedFont>
      <p:font typeface="Instrument Serif"/>
      <p:regular r:id="rId16"/>
      <p:italic r:id="rId17"/>
    </p:embeddedFont>
    <p:embeddedFont>
      <p:font typeface="JetBrains Mono"/>
      <p:regular r:id="rId18"/>
      <p:bold r:id="rId19"/>
      <p:italic r:id="rId20"/>
      <p:boldItalic r:id="rId21"/>
    </p:embeddedFont>
    <p:embeddedFont>
      <p:font typeface="Space Grotesk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InstrumentSerif-regular.fntdata"/><Relationship Id="rId17" Type="http://schemas.openxmlformats.org/officeDocument/2006/relationships/font" Target="fonts/InstrumentSerif-italic.fntdata"/><Relationship Id="rId18" Type="http://schemas.openxmlformats.org/officeDocument/2006/relationships/font" Target="fonts/JetBrainsMono-regular.fntdata"/><Relationship Id="rId19" Type="http://schemas.openxmlformats.org/officeDocument/2006/relationships/font" Target="fonts/JetBrainsMono-bold.fntdata"/><Relationship Id="rId20" Type="http://schemas.openxmlformats.org/officeDocument/2006/relationships/font" Target="fonts/JetBrainsMono-italic.fntdata"/><Relationship Id="rId21" Type="http://schemas.openxmlformats.org/officeDocument/2006/relationships/font" Target="fonts/JetBrainsMono-boldItalic.fntdata"/><Relationship Id="rId22" Type="http://schemas.openxmlformats.org/officeDocument/2006/relationships/font" Target="fonts/SpaceGrotesk-regular.fntdata"/><Relationship Id="rId23" Type="http://schemas.openxmlformats.org/officeDocument/2006/relationships/font" Target="fonts/SpaceGrotesk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t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Idea submission</a:t>
            </a:r>
            <a:endParaRPr/>
          </a:p>
        </p:txBody>
      </p:sp>
      <p:cxnSp>
        <p:nvCxnSpPr>
          <p:cNvPr id="87" name="Google Shape;87;p13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8" name="Google Shape;88;p13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10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11182" y="1904952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BUILD CHALLENGE 2026 · IDEA DECK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11182" y="2222444"/>
            <a:ext cx="9524761" cy="165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 b="1"/>
            </a:pPr>
            <a:r>
              <a:t>TenderPulse AI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11182" y="3555911"/>
            <a:ext cx="8889777" cy="761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pPr>
            <a:r>
              <a:t>Autonomous Technical Bid Compliance Verification &amp; Procurement Decision Engine for CPCL / MoPNG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11182" y="5016374"/>
            <a:ext cx="330191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11182" y="5270368"/>
            <a:ext cx="3428914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600" b="1"/>
            </a:pPr>
            <a:r>
              <a:t>TeAm AsPirE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330591" y="5016374"/>
            <a:ext cx="330191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 STATEMENT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4330591" y="5270368"/>
            <a:ext cx="3428914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600" b="1"/>
            </a:pPr>
            <a:r>
              <a:t>PS-04 · AI Decision Engine for Business Data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950001" y="5016374"/>
            <a:ext cx="330191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MEMBERS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950001" y="5270368"/>
            <a:ext cx="3428914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600" b="1"/>
            </a:pPr>
            <a:r>
              <a:t>Darshan S (Team Lead)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ft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02 · Architecture</a:t>
            </a:r>
            <a:endParaRPr/>
          </a:p>
        </p:txBody>
      </p:sp>
      <p:cxnSp>
        <p:nvCxnSpPr>
          <p:cNvPr id="106" name="Google Shape;106;p14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7" name="Google Shape;107;p14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10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9207269" y="1079473"/>
            <a:ext cx="2273243" cy="330191"/>
          </a:xfrm>
          <a:prstGeom prst="roundRect">
            <a:avLst>
              <a:gd fmla="val 50000" name="adj"/>
            </a:avLst>
          </a:prstGeom>
          <a:solidFill>
            <a:srgbClr val="F2B632"/>
          </a:solidFill>
          <a:ln cap="flat" cmpd="sng" w="12700">
            <a:solidFill>
              <a:srgbClr val="F2B6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9207269" y="1079473"/>
            <a:ext cx="2273243" cy="330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sz="1000" b="1"/>
            </a:pPr>
            <a:r>
              <a:t>CORE ARCHITECTURE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100" b="1"/>
            </a:pPr>
            <a:r>
              <a:t>SYSTEM ARCHITECTURE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pPr>
            <a:r>
              <a:t>Dual-layer decision engine with self-correction guardrails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711182" y="2666933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711182" y="2666933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282667" y="2679633"/>
            <a:ext cx="4571885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400" b="1"/>
            </a:pPr>
            <a:r>
              <a:t>1. Ingest &amp; Layout Parse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282667" y="2959026"/>
            <a:ext cx="4571885" cy="5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PyMuPDF normalizes multi-page unstructured PDF dossiers and CA tables.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6172045" y="2666933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6172045" y="2666933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2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743531" y="2679633"/>
            <a:ext cx="4571885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400" b="1"/>
            </a:pPr>
            <a:r>
              <a:t>2. Deterministic Solvers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743531" y="2959026"/>
            <a:ext cx="4571885" cy="5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Exact math, ISO expiry dates, Mod-36 GSTIN check, and EMD bank guarantee sums.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711182" y="3809904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711182" y="3809904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3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282667" y="3822604"/>
            <a:ext cx="4571885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400" b="1"/>
            </a:pPr>
            <a:r>
              <a:t>3. Semantic Agent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1282667" y="4101997"/>
            <a:ext cx="4571885" cy="5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Contextual scope-of-work matching, spec equivalence, and UDYAM MSE relief parsing.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6172045" y="3809904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6172045" y="3809904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4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6743531" y="3822604"/>
            <a:ext cx="4571885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400" b="1"/>
            </a:pPr>
            <a:r>
              <a:t>4. Reflection Guardrail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6743531" y="4101997"/>
            <a:ext cx="4571885" cy="5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Automated consistency checker eliminates hallucinations &amp; false positives.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711182" y="4952876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711182" y="4952876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5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282667" y="4965575"/>
            <a:ext cx="4571885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400" b="1"/>
            </a:pPr>
            <a:r>
              <a:t>5. Clause-Attribution Graph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1282667" y="5244968"/>
            <a:ext cx="4571885" cy="5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100% traceable link connecting verdicts to verbatim quotes and page numbers.</a:t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6172045" y="4952876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6172045" y="4952876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6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6743531" y="4965575"/>
            <a:ext cx="4571885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400" b="1"/>
            </a:pPr>
            <a:r>
              <a:t>6. CVC Audit Scorecard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6743531" y="5244968"/>
            <a:ext cx="4571885" cy="5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PASS / CONDITIONAL / REJECT in 1.2s with downloadable vigilance audit PDF.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t.png"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03 · Live Prototype</a:t>
            </a:r>
            <a:endParaRPr/>
          </a:p>
        </p:txBody>
      </p:sp>
      <p:cxnSp>
        <p:nvCxnSpPr>
          <p:cNvPr id="144" name="Google Shape;144;p15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5" name="Google Shape;145;p15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10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9207269" y="1079473"/>
            <a:ext cx="2273243" cy="330191"/>
          </a:xfrm>
          <a:prstGeom prst="roundRect">
            <a:avLst>
              <a:gd fmla="val 50000" name="adj"/>
            </a:avLst>
          </a:prstGeom>
          <a:solidFill>
            <a:srgbClr val="F2B632"/>
          </a:solidFill>
          <a:ln cap="flat" cmpd="sng" w="12700">
            <a:solidFill>
              <a:srgbClr val="F2B6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9207269" y="1079473"/>
            <a:ext cx="2273243" cy="330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sz="1000" b="1"/>
            </a:pPr>
            <a:r>
              <a:t>WORKING PROTOTYPE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100" b="1"/>
            </a:pPr>
            <a:r>
              <a:t>LIVE WORKSPACE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pPr>
            <a:r>
              <a:t>Three views. One defensible finding.</a:t>
            </a:r>
            <a:endParaRPr/>
          </a:p>
        </p:txBody>
      </p:sp>
      <p:pic>
        <p:nvPicPr>
          <p:cNvPr descr="social-card.png" id="151" name="Google Shape;15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82" y="2476438"/>
            <a:ext cx="6349841" cy="359401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/>
          <p:nvPr/>
        </p:nvSpPr>
        <p:spPr>
          <a:xfrm>
            <a:off x="7492812" y="2539936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7492812" y="2539936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8064298" y="2552636"/>
            <a:ext cx="342891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400" b="1"/>
            </a:pPr>
            <a:r>
              <a:t>Review Queue (13 Bids)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8064298" y="2832029"/>
            <a:ext cx="3428914" cy="6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Side-by-side queue auditing 13 CPCL packages with live PASS, FAIL, &amp; CONDITIONAL tags.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7492812" y="3746406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7492812" y="3746406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2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8064298" y="3759106"/>
            <a:ext cx="342891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400" b="1"/>
            </a:pPr>
            <a:r>
              <a:t>Split-Screen Evidence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8064298" y="4038499"/>
            <a:ext cx="3428914" cy="6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PyMuPDF text stream highlighting CA balance sheets, ISO validity, and SBI bank guarantees.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7492812" y="4952876"/>
            <a:ext cx="380990" cy="380990"/>
          </a:xfrm>
          <a:prstGeom prst="ellipse">
            <a:avLst/>
          </a:prstGeom>
          <a:solidFill>
            <a:srgbClr val="2A2110"/>
          </a:solidFill>
          <a:ln cap="flat" cmpd="sng" w="9525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7492812" y="4952876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3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8064298" y="4965575"/>
            <a:ext cx="342891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400" b="1"/>
            </a:pPr>
            <a:r>
              <a:t>Cloud Deployed &amp; Verified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8064298" y="5244968"/>
            <a:ext cx="3428914" cy="6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Live on Render (https://ai-build-hackathon.onrender.com) with 1-click PDF audit export.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rner.png" id="168" name="Google Shape;1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02 · The problem</a:t>
            </a:r>
            <a:endParaRPr/>
          </a:p>
        </p:txBody>
      </p:sp>
      <p:cxnSp>
        <p:nvCxnSpPr>
          <p:cNvPr id="171" name="Google Shape;171;p16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2" name="Google Shape;172;p16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10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PROBLEM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problem </a:t>
            </a:r>
            <a:r>
              <a:rPr b="0" i="1" lang="en-US" sz="50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we're solving</a:t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711182" y="2539936"/>
            <a:ext cx="5206869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914377" y="2717732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 STATEMENT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914377" y="2984425"/>
            <a:ext cx="4800479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PS-04 · AI Decision Engine for Business Data</a:t>
            </a:r>
            <a:br/>
            <a:r>
              <a:t>High-Stakes Technical Bid Verification Overhead in Public Procurement (CPCL / MoPNG)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6273643" y="2539936"/>
            <a:ext cx="5206869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6476838" y="2717732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WHO FACES IT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6476838" y="2984425"/>
            <a:ext cx="4800479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Technical Evaluation Committees, Vigilance Officers (CVC), and GeM Procurement Executives across CPSEs (CPCL, Indian Oil, ONGC) handling refinery &amp; infrastructure tenders.</a:t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711182" y="4381390"/>
            <a:ext cx="10769330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914377" y="4559186"/>
            <a:ext cx="10362940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IT COSTS THEM TODAY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914377" y="4825879"/>
            <a:ext cx="10362940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• 3 to 5 business days spent manually auditing 100+ pages of unstructured scans per vendor.</a:t>
            </a:r>
            <a:br/>
            <a:r>
              <a:t>• 40%+ disqualification rate due to non-material clerical oversights, unfairly excluding compliant Indian MSMEs.</a:t>
            </a:r>
            <a:br/>
            <a:r>
              <a:t>• Severe vigilance &amp; legal scrutiny under CVC guidelines from forged GSTINs, expired ISOs, or shell fronting.</a:t>
            </a:r>
            <a:br/>
            <a:r>
              <a:t>• Standard LLMs hallucinate financial figures and fail to provide clause-verifiable evidence chains.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.png" id="189" name="Google Shape;1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03 · Solution overview</a:t>
            </a:r>
            <a:endParaRPr/>
          </a:p>
        </p:txBody>
      </p:sp>
      <p:cxnSp>
        <p:nvCxnSpPr>
          <p:cNvPr id="192" name="Google Shape;192;p17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3" name="Google Shape;193;p17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10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SOLUTION OVERVIEW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</a:t>
            </a:r>
            <a:r>
              <a:rPr b="0" i="1" lang="en-US" sz="50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we're building</a:t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711182" y="2539936"/>
            <a:ext cx="10769330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914377" y="2717732"/>
            <a:ext cx="10362940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TWO OR THREE LINES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914377" y="2984425"/>
            <a:ext cx="10362940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TenderPulse AI is an autonomous, zero-hallucination AI decision engine that ingests scanned multi-page bid dossiers, validates them against official NIT criteria via dual-layer verification, and generates a vigilance-grade audit verdict in 1.2 seconds.</a:t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711182" y="4381390"/>
            <a:ext cx="5206869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914377" y="4559186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THE USER DOES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914377" y="4825879"/>
            <a:ext cx="4800479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The procurement officer selects or uploads a vendor's multi-page technical bid package (PDF) and clicks 'Audit Selected Dossier'.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6273643" y="4381390"/>
            <a:ext cx="5206869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6476838" y="4559186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THEY GET BACK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6476838" y="4825879"/>
            <a:ext cx="4800479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An instant, CVC-defensible compliance scorecard (PASS / CONDITIONAL / REJECT) with clause-level citations, reflection traces, and a one-click downloadable PDF audit report.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ft.png" id="210" name="Google Shape;2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04 · Technical approach</a:t>
            </a:r>
            <a:endParaRPr/>
          </a:p>
        </p:txBody>
      </p:sp>
      <p:cxnSp>
        <p:nvCxnSpPr>
          <p:cNvPr id="213" name="Google Shape;213;p18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4" name="Google Shape;214;p18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10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TECHNICAL APPROACH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How </a:t>
            </a:r>
            <a:r>
              <a:rPr b="0" i="1" lang="en-US" sz="50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it works</a:t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711182" y="2539936"/>
            <a:ext cx="5206869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914377" y="2717732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MODELS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914377" y="2984425"/>
            <a:ext cx="4800479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Dual-layer hybrid stack: Deterministic constraint algorithms for statutory math/dates + LiteLLM / Semantic Agent for contextual scope matching, technical spec equivalence, and UDYAM MSE relief analysis.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6273643" y="2539936"/>
            <a:ext cx="5206869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6476838" y="2717732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TOOLS &amp; FRAMEWORKS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6476838" y="2984425"/>
            <a:ext cx="4800479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PyMuPDF (layout-normalized parsing), Python 3.11, Mod-36 GSTIN Validator, ReportLab (PDF audit generator), and Docker / Render cloud deployment.</a:t>
            </a:r>
            <a:endParaRPr/>
          </a:p>
        </p:txBody>
      </p:sp>
      <p:sp>
        <p:nvSpPr>
          <p:cNvPr id="224" name="Google Shape;224;p18"/>
          <p:cNvSpPr/>
          <p:nvPr/>
        </p:nvSpPr>
        <p:spPr>
          <a:xfrm>
            <a:off x="711182" y="4381390"/>
            <a:ext cx="5206869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914377" y="4559186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914377" y="4825879"/>
            <a:ext cx="4800479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13 benchmark tender dossiers including authentic CPCL Manali Refinery packages (Technip Energies) and targeted edge cases (expired ISO, turnover deficit, EMD shortfall, and UDYAM MSME relief).</a:t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6273643" y="4381390"/>
            <a:ext cx="5206869" cy="158746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6476838" y="4559186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HUMAN APPROVAL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6476838" y="4825879"/>
            <a:ext cx="4800479" cy="9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CONDITIONAL verdicts pause for human committee sign-off on borderline MSME exemptions (Clause 4.5) and pending certificate renewals, ensuring complete CVC vigilance compliance.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rner.png" id="234" name="Google Shape;2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05 · Key features</a:t>
            </a:r>
            <a:endParaRPr/>
          </a:p>
        </p:txBody>
      </p:sp>
      <p:cxnSp>
        <p:nvCxnSpPr>
          <p:cNvPr id="237" name="Google Shape;237;p19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8" name="Google Shape;238;p19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/ 10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KEY FEATURES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it will do </a:t>
            </a:r>
            <a:r>
              <a:rPr b="0" i="1" lang="en-US" sz="50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by 1 Oct</a:t>
            </a:r>
            <a:endParaRPr/>
          </a:p>
        </p:txBody>
      </p:sp>
      <p:cxnSp>
        <p:nvCxnSpPr>
          <p:cNvPr id="242" name="Google Shape;242;p19"/>
          <p:cNvCxnSpPr/>
          <p:nvPr/>
        </p:nvCxnSpPr>
        <p:spPr>
          <a:xfrm>
            <a:off x="711182" y="2539936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3" name="Google Shape;243;p19"/>
          <p:cNvSpPr txBox="1"/>
          <p:nvPr/>
        </p:nvSpPr>
        <p:spPr>
          <a:xfrm>
            <a:off x="711182" y="2679633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01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1460463" y="2705032"/>
            <a:ext cx="3555911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400" b="1"/>
            </a:pPr>
            <a:r>
              <a:t>Zero-Hallucination Solvers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5206869" y="2730431"/>
            <a:ext cx="6273643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Deterministic regex, Mod-36 checksum, and date-math engines guarantee 100% accuracy on statutory criteria.</a:t>
            </a:r>
            <a:endParaRPr/>
          </a:p>
        </p:txBody>
      </p:sp>
      <p:cxnSp>
        <p:nvCxnSpPr>
          <p:cNvPr id="246" name="Google Shape;246;p19"/>
          <p:cNvCxnSpPr/>
          <p:nvPr/>
        </p:nvCxnSpPr>
        <p:spPr>
          <a:xfrm>
            <a:off x="711182" y="3238419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7" name="Google Shape;247;p19"/>
          <p:cNvSpPr txBox="1"/>
          <p:nvPr/>
        </p:nvSpPr>
        <p:spPr>
          <a:xfrm>
            <a:off x="711182" y="3378115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02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1460463" y="3403514"/>
            <a:ext cx="3555911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400" b="1"/>
            </a:pPr>
            <a:r>
              <a:t>Traceable Attribution Graph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5206869" y="3428914"/>
            <a:ext cx="6273643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Every PASS/FAIL verdict is linked to exact page numbers, clause IDs, and verbatim quotations.</a:t>
            </a:r>
            <a:endParaRPr/>
          </a:p>
        </p:txBody>
      </p:sp>
      <p:cxnSp>
        <p:nvCxnSpPr>
          <p:cNvPr id="250" name="Google Shape;250;p19"/>
          <p:cNvCxnSpPr/>
          <p:nvPr/>
        </p:nvCxnSpPr>
        <p:spPr>
          <a:xfrm>
            <a:off x="711182" y="3936901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1" name="Google Shape;251;p19"/>
          <p:cNvSpPr txBox="1"/>
          <p:nvPr/>
        </p:nvSpPr>
        <p:spPr>
          <a:xfrm>
            <a:off x="711182" y="4076598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03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1460463" y="4101997"/>
            <a:ext cx="3555911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400" b="1"/>
            </a:pPr>
            <a:r>
              <a:t>MSME Relief Engine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5206869" y="4127396"/>
            <a:ext cx="6273643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Recognizes valid UDYAM registrations and applies turnover relaxations under Public Procurement Policy Clause 4.5.</a:t>
            </a:r>
            <a:endParaRPr/>
          </a:p>
        </p:txBody>
      </p:sp>
      <p:cxnSp>
        <p:nvCxnSpPr>
          <p:cNvPr id="254" name="Google Shape;254;p19"/>
          <p:cNvCxnSpPr/>
          <p:nvPr/>
        </p:nvCxnSpPr>
        <p:spPr>
          <a:xfrm>
            <a:off x="711182" y="4635384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5" name="Google Shape;255;p19"/>
          <p:cNvSpPr txBox="1"/>
          <p:nvPr/>
        </p:nvSpPr>
        <p:spPr>
          <a:xfrm>
            <a:off x="711182" y="4775080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04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1460463" y="4800479"/>
            <a:ext cx="3555911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400" b="1"/>
            </a:pPr>
            <a:r>
              <a:t>Vigilance-Grade Audit Trail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5206869" y="4825879"/>
            <a:ext cx="6273643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Exports complete CVC-defensible PDF audit scorecards and full agent execution trajectory logs (.jsonl).</a:t>
            </a:r>
            <a:endParaRPr/>
          </a:p>
        </p:txBody>
      </p:sp>
      <p:cxnSp>
        <p:nvCxnSpPr>
          <p:cNvPr id="258" name="Google Shape;258;p19"/>
          <p:cNvCxnSpPr/>
          <p:nvPr/>
        </p:nvCxnSpPr>
        <p:spPr>
          <a:xfrm>
            <a:off x="711182" y="5333866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9" name="Google Shape;259;p19"/>
          <p:cNvSpPr txBox="1"/>
          <p:nvPr/>
        </p:nvSpPr>
        <p:spPr>
          <a:xfrm>
            <a:off x="711182" y="5473563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05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1460463" y="5498962"/>
            <a:ext cx="3555911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400" b="1"/>
            </a:pPr>
            <a:r>
              <a:t>Dual-Persona Interface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5206869" y="5524361"/>
            <a:ext cx="6273643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Procurement Officer mode with split-screen evidence + MSME Supplier pre-flight self-check mode.</a:t>
            </a:r>
            <a:endParaRPr/>
          </a:p>
        </p:txBody>
      </p:sp>
      <p:cxnSp>
        <p:nvCxnSpPr>
          <p:cNvPr id="262" name="Google Shape;262;p19"/>
          <p:cNvCxnSpPr/>
          <p:nvPr/>
        </p:nvCxnSpPr>
        <p:spPr>
          <a:xfrm>
            <a:off x="711182" y="6032349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t.png" id="267" name="Google Shape;2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06 · Baseline &amp; evaluation</a:t>
            </a:r>
            <a:endParaRPr/>
          </a:p>
        </p:txBody>
      </p:sp>
      <p:cxnSp>
        <p:nvCxnSpPr>
          <p:cNvPr id="270" name="Google Shape;270;p20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1" name="Google Shape;271;p20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/ 10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BASELINE &amp; EVALUATION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How we'll </a:t>
            </a:r>
            <a:r>
              <a:rPr b="0" i="1" lang="en-US" sz="500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prove it works</a:t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711182" y="2539936"/>
            <a:ext cx="5206869" cy="1714457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914377" y="2717732"/>
            <a:ext cx="48258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TODAY · WITHOUT YOUR SYSTEM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914377" y="2984425"/>
            <a:ext cx="4800479" cy="5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600" b="1"/>
            </a:pPr>
            <a:r>
              <a:t>3 to 5 Days (50.0% Accuracy)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914377" y="3619409"/>
            <a:ext cx="4800479" cy="5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Manual committee review takes 3–5 days per tender. Naive keyword baselines score only 50.0% accuracy, missing expired certificates, fake GSTINs, and turnover shortfalls.</a:t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6273643" y="2539936"/>
            <a:ext cx="5206869" cy="1714457"/>
          </a:xfrm>
          <a:prstGeom prst="roundRect">
            <a:avLst>
              <a:gd fmla="val 6000" name="adj"/>
            </a:avLst>
          </a:prstGeom>
          <a:solidFill>
            <a:srgbClr val="2A2110"/>
          </a:solidFill>
          <a:ln cap="flat" cmpd="sng" w="12700">
            <a:solidFill>
              <a:srgbClr val="8A68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6476838" y="2717732"/>
            <a:ext cx="4825879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TARGET · WITH YOUR SYSTEM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6476838" y="2984425"/>
            <a:ext cx="4800479" cy="5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600" b="1"/>
            </a:pPr>
            <a:r>
              <a:t>1.2 Seconds (100.0% Accuracy)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6476838" y="3619409"/>
            <a:ext cx="4800479" cy="57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TenderPulse AI cuts review time to 1.2s while achieving 100.0% decision accuracy across all 13 benchmark dossiers (+50.0% gain, zero false positives, 98%+ confidence).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5918052" y="3206669"/>
            <a:ext cx="355591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>
                <a:solidFill>
                  <a:srgbClr val="F2B632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</a:t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711182" y="4508387"/>
            <a:ext cx="10769330" cy="1460463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914377" y="4686182"/>
            <a:ext cx="10362940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HOW YOU'LL EVALUATE IT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914377" y="4952876"/>
            <a:ext cx="10362940" cy="850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Evaluated on 13 diverse bid dossiers: 5 fully compliant passes, 6 failure modes (expired ISO, turnover deficit, invalid GSTIN checksum, EMD shortfall, compound failure), and 2 conditional MSME edge cases.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.png" id="291" name="Google Shape;2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1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07 · Team</a:t>
            </a:r>
            <a:endParaRPr/>
          </a:p>
        </p:txBody>
      </p:sp>
      <p:cxnSp>
        <p:nvCxnSpPr>
          <p:cNvPr id="294" name="Google Shape;294;p21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5" name="Google Shape;295;p21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/ 10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pPr>
            <a:r>
              <a:t>TeAm AsPirE</a:t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711182" y="2666933"/>
            <a:ext cx="3428914" cy="317492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939776" y="2870128"/>
            <a:ext cx="2984425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 01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939776" y="3174920"/>
            <a:ext cx="2984425" cy="4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600" b="1"/>
            </a:pPr>
            <a:r>
              <a:t>Darshan S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939776" y="3873403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COLLEGE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1981150" y="3848003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Engineering &amp; Technology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939776" y="4330591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1981150" y="4305192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Final Year (4th Year B.E.)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939776" y="4787780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1981150" y="4762380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100"/>
            </a:pPr>
            <a:r>
              <a:t>Full-Stack AI Architecture, Solvers &amp; Dashboard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939776" y="5244968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LINKEDIN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1981150" y="5219569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100"/>
            </a:pPr>
            <a:r>
              <a:t>https://github.com/darshan-s-44</a:t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4381390" y="2666933"/>
            <a:ext cx="3428914" cy="317492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609984" y="2870128"/>
            <a:ext cx="2984425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 02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4609984" y="3174920"/>
            <a:ext cx="2984425" cy="4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600" b="1"/>
            </a:pPr>
            <a:r>
              <a:t>AI Decision Agent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4609984" y="3873403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COLLEGE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5651358" y="3848003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TenderPulse Core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4609984" y="4330591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5651358" y="4305192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Production Layer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4609984" y="4787780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5651358" y="4762380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100"/>
            </a:pPr>
            <a:r>
              <a:t>Multi-Tool Rule Solvers &amp; Layout Ingestion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4609984" y="5244968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LINKEDIN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5651358" y="5219569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100"/>
            </a:pPr>
            <a:r>
              <a:t>https://ai-build-hackathon.onrender.com</a:t>
            </a:r>
            <a:endParaRPr/>
          </a:p>
        </p:txBody>
      </p:sp>
      <p:sp>
        <p:nvSpPr>
          <p:cNvPr id="321" name="Google Shape;321;p21"/>
          <p:cNvSpPr/>
          <p:nvPr/>
        </p:nvSpPr>
        <p:spPr>
          <a:xfrm>
            <a:off x="8051598" y="2666933"/>
            <a:ext cx="3428914" cy="3174920"/>
          </a:xfrm>
          <a:prstGeom prst="roundRect">
            <a:avLst>
              <a:gd fmla="val 6000" name="adj"/>
            </a:avLst>
          </a:prstGeom>
          <a:solidFill>
            <a:srgbClr val="17130E"/>
          </a:solidFill>
          <a:ln cap="flat" cmpd="sng" w="12700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8280192" y="2870128"/>
            <a:ext cx="2984425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 03</a:t>
            </a:r>
            <a:endParaRPr/>
          </a:p>
        </p:txBody>
      </p:sp>
      <p:sp>
        <p:nvSpPr>
          <p:cNvPr id="323" name="Google Shape;323;p21"/>
          <p:cNvSpPr txBox="1"/>
          <p:nvPr/>
        </p:nvSpPr>
        <p:spPr>
          <a:xfrm>
            <a:off x="8280192" y="3174920"/>
            <a:ext cx="2984425" cy="4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600" b="1"/>
            </a:pPr>
            <a:r>
              <a:t>Audit Reflection Guardrail</a:t>
            </a:r>
            <a:endParaRPr/>
          </a:p>
        </p:txBody>
      </p:sp>
      <p:sp>
        <p:nvSpPr>
          <p:cNvPr id="324" name="Google Shape;324;p21"/>
          <p:cNvSpPr txBox="1"/>
          <p:nvPr/>
        </p:nvSpPr>
        <p:spPr>
          <a:xfrm>
            <a:off x="8280192" y="3873403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COLLEGE</a:t>
            </a:r>
            <a:endParaRPr/>
          </a:p>
        </p:txBody>
      </p:sp>
      <p:sp>
        <p:nvSpPr>
          <p:cNvPr id="325" name="Google Shape;325;p21"/>
          <p:cNvSpPr txBox="1"/>
          <p:nvPr/>
        </p:nvSpPr>
        <p:spPr>
          <a:xfrm>
            <a:off x="9321566" y="3848003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CVC Compliance Engine</a:t>
            </a:r>
            <a:endParaRPr/>
          </a:p>
        </p:txBody>
      </p:sp>
      <p:sp>
        <p:nvSpPr>
          <p:cNvPr id="326" name="Google Shape;326;p21"/>
          <p:cNvSpPr txBox="1"/>
          <p:nvPr/>
        </p:nvSpPr>
        <p:spPr>
          <a:xfrm>
            <a:off x="8280192" y="4330591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</a:t>
            </a:r>
            <a:endParaRPr/>
          </a:p>
        </p:txBody>
      </p:sp>
      <p:sp>
        <p:nvSpPr>
          <p:cNvPr id="327" name="Google Shape;327;p21"/>
          <p:cNvSpPr txBox="1"/>
          <p:nvPr/>
        </p:nvSpPr>
        <p:spPr>
          <a:xfrm>
            <a:off x="9321566" y="4305192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200"/>
            </a:pPr>
            <a:r>
              <a:t>Verification Layer</a:t>
            </a:r>
            <a:endParaRPr/>
          </a:p>
        </p:txBody>
      </p:sp>
      <p:sp>
        <p:nvSpPr>
          <p:cNvPr id="328" name="Google Shape;328;p21"/>
          <p:cNvSpPr txBox="1"/>
          <p:nvPr/>
        </p:nvSpPr>
        <p:spPr>
          <a:xfrm>
            <a:off x="8280192" y="4787780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</a:t>
            </a:r>
            <a:endParaRPr/>
          </a:p>
        </p:txBody>
      </p:sp>
      <p:sp>
        <p:nvSpPr>
          <p:cNvPr id="329" name="Google Shape;329;p21"/>
          <p:cNvSpPr txBox="1"/>
          <p:nvPr/>
        </p:nvSpPr>
        <p:spPr>
          <a:xfrm>
            <a:off x="9321566" y="4762380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100"/>
            </a:pPr>
            <a:r>
              <a:t>Self-Correction &amp; Trajectory Logging</a:t>
            </a:r>
            <a:endParaRPr/>
          </a:p>
        </p:txBody>
      </p:sp>
      <p:sp>
        <p:nvSpPr>
          <p:cNvPr id="330" name="Google Shape;330;p21"/>
          <p:cNvSpPr txBox="1"/>
          <p:nvPr/>
        </p:nvSpPr>
        <p:spPr>
          <a:xfrm>
            <a:off x="8280192" y="5244968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LINKEDIN</a:t>
            </a:r>
            <a:endParaRPr/>
          </a:p>
        </p:txBody>
      </p:sp>
      <p:sp>
        <p:nvSpPr>
          <p:cNvPr id="331" name="Google Shape;331;p21"/>
          <p:cNvSpPr txBox="1"/>
          <p:nvPr/>
        </p:nvSpPr>
        <p:spPr>
          <a:xfrm>
            <a:off x="9321566" y="5219569"/>
            <a:ext cx="1968450" cy="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100"/>
            </a:pPr>
            <a:r>
              <a:t>https://ai-build-hackathon.onrender.com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t.png" id="336" name="Google Shape;3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2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  <p:cxnSp>
        <p:nvCxnSpPr>
          <p:cNvPr id="339" name="Google Shape;339;p22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cap="flat" cmpd="sng" w="9525">
            <a:solidFill>
              <a:srgbClr val="332D2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0" name="Google Shape;340;p22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/ 10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711182" y="2984425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300" b="1"/>
            </a:pPr>
            <a:r>
              <a:t>TeAm AsPirE · PS-04 (AI Decision Engine for Business Data)</a:t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711182" y="3238419"/>
            <a:ext cx="10159746" cy="1396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4000" b="1"/>
            </a:pPr>
            <a:r>
              <a:t>Thank you.</a:t>
            </a:r>
            <a:br/>
            <a:r>
              <a:t>TenderPulse AI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711182" y="5079873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100" b="1"/>
            </a:pPr>
            <a:r>
              <a:t>PROJECT DELIVERABLES &amp; LIVE DEPLOYMENT</a:t>
            </a:r>
            <a:endParaRPr/>
          </a:p>
        </p:txBody>
      </p:sp>
      <p:sp>
        <p:nvSpPr>
          <p:cNvPr id="345" name="Google Shape;345;p22"/>
          <p:cNvSpPr txBox="1"/>
          <p:nvPr/>
        </p:nvSpPr>
        <p:spPr>
          <a:xfrm>
            <a:off x="711182" y="5333866"/>
            <a:ext cx="8889777" cy="31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Live App: https://ai-build-hackathon.onrender.com/  |  Repo: https://github.com/darshan-s-44/AI_build_hackathon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