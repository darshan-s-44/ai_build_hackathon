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6857825" cx="12191675"/>
  <p:notesSz cx="6858000" cy="9144000"/>
  <p:embeddedFontLst>
    <p:embeddedFont>
      <p:font typeface="Instrument Serif"/>
      <p:regular r:id="rId16"/>
      <p:italic r:id="rId17"/>
    </p:embeddedFont>
    <p:embeddedFont>
      <p:font typeface="JetBrains Mono"/>
      <p:regular r:id="rId18"/>
      <p:bold r:id="rId19"/>
      <p:italic r:id="rId20"/>
      <p:boldItalic r:id="rId21"/>
    </p:embeddedFont>
    <p:embeddedFont>
      <p:font typeface="Space Grotesk"/>
      <p:regular r:id="rId22"/>
      <p:bold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font" Target="fonts/InstrumentSerif-regular.fntdata"/><Relationship Id="rId17" Type="http://schemas.openxmlformats.org/officeDocument/2006/relationships/font" Target="fonts/InstrumentSerif-italic.fntdata"/><Relationship Id="rId18" Type="http://schemas.openxmlformats.org/officeDocument/2006/relationships/font" Target="fonts/JetBrainsMono-regular.fntdata"/><Relationship Id="rId19" Type="http://schemas.openxmlformats.org/officeDocument/2006/relationships/font" Target="fonts/JetBrainsMono-bold.fntdata"/><Relationship Id="rId20" Type="http://schemas.openxmlformats.org/officeDocument/2006/relationships/font" Target="fonts/JetBrainsMono-italic.fntdata"/><Relationship Id="rId21" Type="http://schemas.openxmlformats.org/officeDocument/2006/relationships/font" Target="fonts/JetBrainsMono-boldItalic.fntdata"/><Relationship Id="rId22" Type="http://schemas.openxmlformats.org/officeDocument/2006/relationships/font" Target="fonts/SpaceGrotesk-regular.fntdata"/><Relationship Id="rId23" Type="http://schemas.openxmlformats.org/officeDocument/2006/relationships/font" Target="fonts/SpaceGrotesk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ot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7828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711182" y="558786"/>
            <a:ext cx="4444888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300" u="none" cap="none" strike="noStrike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✱  BFWAI/HACK 26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6984825" y="571485"/>
            <a:ext cx="4495687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1100" u="none" cap="none" strike="noStrik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Idea submission</a:t>
            </a:r>
            <a:endParaRPr/>
          </a:p>
        </p:txBody>
      </p:sp>
      <p:cxnSp>
        <p:nvCxnSpPr>
          <p:cNvPr id="87" name="Google Shape;87;p13"/>
          <p:cNvCxnSpPr/>
          <p:nvPr/>
        </p:nvCxnSpPr>
        <p:spPr>
          <a:xfrm>
            <a:off x="711182" y="6286342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88" name="Google Shape;88;p13"/>
          <p:cNvSpPr txBox="1"/>
          <p:nvPr/>
        </p:nvSpPr>
        <p:spPr>
          <a:xfrm>
            <a:off x="711182" y="6413339"/>
            <a:ext cx="5714857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100" u="none" cap="none" strike="noStrike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buildfastwithai.com/hackathon ↗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8254793" y="6426039"/>
            <a:ext cx="3225719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900" u="none" cap="none" strike="noStrike">
                <a:solidFill>
                  <a:srgbClr val="E1E6F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 / 10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711182" y="1904952"/>
            <a:ext cx="571485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 u="none" cap="none" strike="noStrike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AI BUILD CHALLENGE 2026 · IDEA DECK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711182" y="2222444"/>
            <a:ext cx="9524761" cy="165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400" b="1">
                <a:solidFill>
                  <a:srgbClr val="FFFFFF"/>
                </a:solidFill>
              </a:defRPr>
            </a:pPr>
            <a:r>
              <a:rPr sz="4400" b="1">
                <a:solidFill>
                  <a:srgbClr val="FFFFFF"/>
                </a:solidFill>
              </a:rPr>
              <a:t>TenderPulse AI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711182" y="3555911"/>
            <a:ext cx="8889777" cy="761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FFD778"/>
                </a:solidFill>
              </a:defRPr>
            </a:pPr>
            <a:r>
              <a:rPr sz="1900" b="0">
                <a:solidFill>
                  <a:srgbClr val="FFD778"/>
                </a:solidFill>
              </a:rPr>
              <a:t>Autonomous Technical Bid Compliance Verification &amp; Procurement Decision Engine for CPCL / MoPNG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711182" y="5016374"/>
            <a:ext cx="330191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 u="none" cap="none" strike="noStrike">
                <a:solidFill>
                  <a:srgbClr val="F5B93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TEAM</a:t>
            </a:r>
            <a:endParaRPr/>
          </a:p>
        </p:txBody>
      </p:sp>
      <p:sp>
        <p:nvSpPr>
          <p:cNvPr id="94" name="Google Shape;94;p13"/>
          <p:cNvSpPr txBox="1"/>
          <p:nvPr/>
        </p:nvSpPr>
        <p:spPr>
          <a:xfrm>
            <a:off x="711182" y="5270368"/>
            <a:ext cx="3428914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700" b="1">
                <a:solidFill>
                  <a:srgbClr val="FFFFFF"/>
                </a:solidFill>
              </a:defRPr>
            </a:pPr>
            <a:r>
              <a:rPr sz="1700" b="1">
                <a:solidFill>
                  <a:srgbClr val="FFFFFF"/>
                </a:solidFill>
              </a:rPr>
              <a:t>TeAm AsPirE</a:t>
            </a:r>
            <a:endParaRPr/>
          </a:p>
        </p:txBody>
      </p:sp>
      <p:sp>
        <p:nvSpPr>
          <p:cNvPr id="95" name="Google Shape;95;p13"/>
          <p:cNvSpPr txBox="1"/>
          <p:nvPr/>
        </p:nvSpPr>
        <p:spPr>
          <a:xfrm>
            <a:off x="4330591" y="5016374"/>
            <a:ext cx="330191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 u="none" cap="none" strike="noStrike">
                <a:solidFill>
                  <a:srgbClr val="F5B93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PROBLEM STATEMENT</a:t>
            </a:r>
            <a:endParaRPr/>
          </a:p>
        </p:txBody>
      </p:sp>
      <p:sp>
        <p:nvSpPr>
          <p:cNvPr id="96" name="Google Shape;96;p13"/>
          <p:cNvSpPr txBox="1"/>
          <p:nvPr/>
        </p:nvSpPr>
        <p:spPr>
          <a:xfrm>
            <a:off x="4330591" y="5270368"/>
            <a:ext cx="3428914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700" b="1">
                <a:solidFill>
                  <a:srgbClr val="FFFFFF"/>
                </a:solidFill>
              </a:defRPr>
            </a:pPr>
            <a:r>
              <a:rPr sz="1700" b="1">
                <a:solidFill>
                  <a:srgbClr val="FFFFFF"/>
                </a:solidFill>
              </a:rPr>
              <a:t>PS-04 · AI Decision Engine for Business Data</a:t>
            </a:r>
            <a:endParaRPr/>
          </a:p>
        </p:txBody>
      </p:sp>
      <p:sp>
        <p:nvSpPr>
          <p:cNvPr id="97" name="Google Shape;97;p13"/>
          <p:cNvSpPr txBox="1"/>
          <p:nvPr/>
        </p:nvSpPr>
        <p:spPr>
          <a:xfrm>
            <a:off x="7950001" y="5016374"/>
            <a:ext cx="330191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 u="none" cap="none" strike="noStrike">
                <a:solidFill>
                  <a:srgbClr val="F5B93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MEMBERS</a:t>
            </a:r>
            <a:endParaRPr/>
          </a:p>
        </p:txBody>
      </p:sp>
      <p:sp>
        <p:nvSpPr>
          <p:cNvPr id="98" name="Google Shape;98;p13"/>
          <p:cNvSpPr txBox="1"/>
          <p:nvPr/>
        </p:nvSpPr>
        <p:spPr>
          <a:xfrm>
            <a:off x="7950001" y="5270368"/>
            <a:ext cx="3428914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700" b="1">
                <a:solidFill>
                  <a:srgbClr val="FFFFFF"/>
                </a:solidFill>
              </a:defRPr>
            </a:pPr>
            <a:r>
              <a:rPr sz="1700" b="1">
                <a:solidFill>
                  <a:srgbClr val="FFFFFF"/>
                </a:solidFill>
              </a:rPr>
              <a:t>Darshan 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eft.png" id="103" name="Google Shape;10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782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4"/>
          <p:cNvSpPr txBox="1"/>
          <p:nvPr/>
        </p:nvSpPr>
        <p:spPr>
          <a:xfrm>
            <a:off x="711182" y="558786"/>
            <a:ext cx="4444888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300" u="none" cap="none" strike="noStrike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✱  BFWAI/HACK 26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6984825" y="571485"/>
            <a:ext cx="4495687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rgbClr val="E1E6F0"/>
                </a:solidFill>
              </a:defRPr>
            </a:pPr>
            <a:r>
              <a:rPr sz="1300">
                <a:solidFill>
                  <a:srgbClr val="E1E6F0"/>
                </a:solidFill>
              </a:rPr>
              <a:t>02 · Architecture</a:t>
            </a:r>
            <a:endParaRPr/>
          </a:p>
        </p:txBody>
      </p:sp>
      <p:cxnSp>
        <p:nvCxnSpPr>
          <p:cNvPr id="106" name="Google Shape;106;p14"/>
          <p:cNvCxnSpPr/>
          <p:nvPr/>
        </p:nvCxnSpPr>
        <p:spPr>
          <a:xfrm>
            <a:off x="711182" y="6286342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07" name="Google Shape;107;p14"/>
          <p:cNvSpPr txBox="1"/>
          <p:nvPr/>
        </p:nvSpPr>
        <p:spPr>
          <a:xfrm>
            <a:off x="711182" y="6413339"/>
            <a:ext cx="5714857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100" u="none" cap="none" strike="noStrike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buildfastwithai.com/hackathon ↗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8254793" y="6426039"/>
            <a:ext cx="3225719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900" u="none" cap="none" strike="noStrike">
                <a:solidFill>
                  <a:srgbClr val="E1E6F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 / 10</a:t>
            </a:r>
            <a:endParaRPr/>
          </a:p>
        </p:txBody>
      </p:sp>
      <p:sp>
        <p:nvSpPr>
          <p:cNvPr id="109" name="Google Shape;109;p14"/>
          <p:cNvSpPr/>
          <p:nvPr/>
        </p:nvSpPr>
        <p:spPr>
          <a:xfrm>
            <a:off x="9207269" y="1079473"/>
            <a:ext cx="2273243" cy="330191"/>
          </a:xfrm>
          <a:prstGeom prst="roundRect">
            <a:avLst>
              <a:gd fmla="val 50000" name="adj"/>
            </a:avLst>
          </a:prstGeom>
          <a:solidFill>
            <a:srgbClr val="F2B632"/>
          </a:solidFill>
          <a:ln cap="flat" cmpd="sng" w="12700">
            <a:solidFill>
              <a:srgbClr val="F2B6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9207269" y="1079473"/>
            <a:ext cx="2273243" cy="330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141414"/>
                </a:solidFill>
              </a:defRPr>
            </a:pPr>
            <a:r>
              <a:rPr sz="1100" b="1">
                <a:solidFill>
                  <a:srgbClr val="141414"/>
                </a:solidFill>
              </a:rPr>
              <a:t>CORE ARCHITECTURE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711182" y="1206469"/>
            <a:ext cx="571485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F5B937"/>
                </a:solidFill>
              </a:defRPr>
            </a:pPr>
            <a:r>
              <a:rPr sz="1200" b="1">
                <a:solidFill>
                  <a:srgbClr val="F5B937"/>
                </a:solidFill>
              </a:rPr>
              <a:t>SYSTEM ARCHITECTURE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711182" y="1492212"/>
            <a:ext cx="10794730" cy="9524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FFFFFF"/>
                </a:solidFill>
              </a:defRPr>
            </a:pPr>
            <a:r>
              <a:rPr sz="2800" b="1">
                <a:solidFill>
                  <a:srgbClr val="FFFFFF"/>
                </a:solidFill>
              </a:rPr>
              <a:t>Dual-layer decision engine with self-correction guardrails</a:t>
            </a:r>
            <a:endParaRPr/>
          </a:p>
        </p:txBody>
      </p:sp>
      <p:sp>
        <p:nvSpPr>
          <p:cNvPr id="113" name="Google Shape;113;p14"/>
          <p:cNvSpPr/>
          <p:nvPr/>
        </p:nvSpPr>
        <p:spPr>
          <a:xfrm>
            <a:off x="711182" y="2666933"/>
            <a:ext cx="380990" cy="380990"/>
          </a:xfrm>
          <a:prstGeom prst="ellipse">
            <a:avLst/>
          </a:prstGeom>
          <a:solidFill>
            <a:srgbClr val="2A2110"/>
          </a:solidFill>
          <a:ln cap="flat" cmpd="sng" w="9525">
            <a:solidFill>
              <a:srgbClr val="8A68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4"/>
          <p:cNvSpPr txBox="1"/>
          <p:nvPr/>
        </p:nvSpPr>
        <p:spPr>
          <a:xfrm>
            <a:off x="711182" y="2666933"/>
            <a:ext cx="380990" cy="3809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17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1</a:t>
            </a:r>
            <a:endParaRPr/>
          </a:p>
        </p:txBody>
      </p:sp>
      <p:sp>
        <p:nvSpPr>
          <p:cNvPr id="115" name="Google Shape;115;p14"/>
          <p:cNvSpPr txBox="1"/>
          <p:nvPr/>
        </p:nvSpPr>
        <p:spPr>
          <a:xfrm>
            <a:off x="1282667" y="2679633"/>
            <a:ext cx="4571885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1. Ingest &amp; Layout Parse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1282667" y="2959026"/>
            <a:ext cx="4571885" cy="571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PyMuPDF normalizes multi-page unstructured PDF dossiers and CA tables.</a:t>
            </a:r>
            <a:endParaRPr/>
          </a:p>
        </p:txBody>
      </p:sp>
      <p:sp>
        <p:nvSpPr>
          <p:cNvPr id="117" name="Google Shape;117;p14"/>
          <p:cNvSpPr/>
          <p:nvPr/>
        </p:nvSpPr>
        <p:spPr>
          <a:xfrm>
            <a:off x="6172045" y="2666933"/>
            <a:ext cx="380990" cy="380990"/>
          </a:xfrm>
          <a:prstGeom prst="ellipse">
            <a:avLst/>
          </a:prstGeom>
          <a:solidFill>
            <a:srgbClr val="2A2110"/>
          </a:solidFill>
          <a:ln cap="flat" cmpd="sng" w="9525">
            <a:solidFill>
              <a:srgbClr val="8A68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4"/>
          <p:cNvSpPr txBox="1"/>
          <p:nvPr/>
        </p:nvSpPr>
        <p:spPr>
          <a:xfrm>
            <a:off x="6172045" y="2666933"/>
            <a:ext cx="380990" cy="3809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17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2</a:t>
            </a:r>
            <a:endParaRPr/>
          </a:p>
        </p:txBody>
      </p:sp>
      <p:sp>
        <p:nvSpPr>
          <p:cNvPr id="119" name="Google Shape;119;p14"/>
          <p:cNvSpPr txBox="1"/>
          <p:nvPr/>
        </p:nvSpPr>
        <p:spPr>
          <a:xfrm>
            <a:off x="6743531" y="2679633"/>
            <a:ext cx="4571885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2. Deterministic Solvers</a:t>
            </a:r>
            <a:endParaRPr/>
          </a:p>
        </p:txBody>
      </p:sp>
      <p:sp>
        <p:nvSpPr>
          <p:cNvPr id="120" name="Google Shape;120;p14"/>
          <p:cNvSpPr txBox="1"/>
          <p:nvPr/>
        </p:nvSpPr>
        <p:spPr>
          <a:xfrm>
            <a:off x="6743531" y="2959026"/>
            <a:ext cx="4571885" cy="571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Exact math, ISO expiry dates, Mod-36 GSTIN check, and EMD bank guarantee sums.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711182" y="3809904"/>
            <a:ext cx="380990" cy="380990"/>
          </a:xfrm>
          <a:prstGeom prst="ellipse">
            <a:avLst/>
          </a:prstGeom>
          <a:solidFill>
            <a:srgbClr val="2A2110"/>
          </a:solidFill>
          <a:ln cap="flat" cmpd="sng" w="9525">
            <a:solidFill>
              <a:srgbClr val="8A68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711182" y="3809904"/>
            <a:ext cx="380990" cy="3809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17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3</a:t>
            </a:r>
            <a:endParaRPr/>
          </a:p>
        </p:txBody>
      </p:sp>
      <p:sp>
        <p:nvSpPr>
          <p:cNvPr id="123" name="Google Shape;123;p14"/>
          <p:cNvSpPr txBox="1"/>
          <p:nvPr/>
        </p:nvSpPr>
        <p:spPr>
          <a:xfrm>
            <a:off x="1282667" y="3822604"/>
            <a:ext cx="4571885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3. Semantic Agent</a:t>
            </a:r>
            <a:endParaRPr/>
          </a:p>
        </p:txBody>
      </p:sp>
      <p:sp>
        <p:nvSpPr>
          <p:cNvPr id="124" name="Google Shape;124;p14"/>
          <p:cNvSpPr txBox="1"/>
          <p:nvPr/>
        </p:nvSpPr>
        <p:spPr>
          <a:xfrm>
            <a:off x="1282667" y="4101997"/>
            <a:ext cx="4571885" cy="571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Contextual scope-of-work matching, spec equivalence, and UDYAM MSE relief parsing.</a:t>
            </a:r>
            <a:endParaRPr/>
          </a:p>
        </p:txBody>
      </p:sp>
      <p:sp>
        <p:nvSpPr>
          <p:cNvPr id="125" name="Google Shape;125;p14"/>
          <p:cNvSpPr/>
          <p:nvPr/>
        </p:nvSpPr>
        <p:spPr>
          <a:xfrm>
            <a:off x="6172045" y="3809904"/>
            <a:ext cx="380990" cy="380990"/>
          </a:xfrm>
          <a:prstGeom prst="ellipse">
            <a:avLst/>
          </a:prstGeom>
          <a:solidFill>
            <a:srgbClr val="2A2110"/>
          </a:solidFill>
          <a:ln cap="flat" cmpd="sng" w="9525">
            <a:solidFill>
              <a:srgbClr val="8A68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4"/>
          <p:cNvSpPr txBox="1"/>
          <p:nvPr/>
        </p:nvSpPr>
        <p:spPr>
          <a:xfrm>
            <a:off x="6172045" y="3809904"/>
            <a:ext cx="380990" cy="3809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17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4</a:t>
            </a:r>
            <a:endParaRPr/>
          </a:p>
        </p:txBody>
      </p:sp>
      <p:sp>
        <p:nvSpPr>
          <p:cNvPr id="127" name="Google Shape;127;p14"/>
          <p:cNvSpPr txBox="1"/>
          <p:nvPr/>
        </p:nvSpPr>
        <p:spPr>
          <a:xfrm>
            <a:off x="6743531" y="3822604"/>
            <a:ext cx="4571885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4. Reflection Guardrail</a:t>
            </a:r>
            <a:endParaRPr/>
          </a:p>
        </p:txBody>
      </p:sp>
      <p:sp>
        <p:nvSpPr>
          <p:cNvPr id="128" name="Google Shape;128;p14"/>
          <p:cNvSpPr txBox="1"/>
          <p:nvPr/>
        </p:nvSpPr>
        <p:spPr>
          <a:xfrm>
            <a:off x="6743531" y="4101997"/>
            <a:ext cx="4571885" cy="571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Automated consistency checker eliminates hallucinations &amp; false positives.</a:t>
            </a:r>
            <a:endParaRPr/>
          </a:p>
        </p:txBody>
      </p:sp>
      <p:sp>
        <p:nvSpPr>
          <p:cNvPr id="129" name="Google Shape;129;p14"/>
          <p:cNvSpPr/>
          <p:nvPr/>
        </p:nvSpPr>
        <p:spPr>
          <a:xfrm>
            <a:off x="711182" y="4952876"/>
            <a:ext cx="380990" cy="380990"/>
          </a:xfrm>
          <a:prstGeom prst="ellipse">
            <a:avLst/>
          </a:prstGeom>
          <a:solidFill>
            <a:srgbClr val="2A2110"/>
          </a:solidFill>
          <a:ln cap="flat" cmpd="sng" w="9525">
            <a:solidFill>
              <a:srgbClr val="8A68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4"/>
          <p:cNvSpPr txBox="1"/>
          <p:nvPr/>
        </p:nvSpPr>
        <p:spPr>
          <a:xfrm>
            <a:off x="711182" y="4952876"/>
            <a:ext cx="380990" cy="3809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17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5</a:t>
            </a:r>
            <a:endParaRPr/>
          </a:p>
        </p:txBody>
      </p:sp>
      <p:sp>
        <p:nvSpPr>
          <p:cNvPr id="131" name="Google Shape;131;p14"/>
          <p:cNvSpPr txBox="1"/>
          <p:nvPr/>
        </p:nvSpPr>
        <p:spPr>
          <a:xfrm>
            <a:off x="1282667" y="4965575"/>
            <a:ext cx="4571885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5. Clause-Attribution Graph</a:t>
            </a:r>
            <a:endParaRPr/>
          </a:p>
        </p:txBody>
      </p:sp>
      <p:sp>
        <p:nvSpPr>
          <p:cNvPr id="132" name="Google Shape;132;p14"/>
          <p:cNvSpPr txBox="1"/>
          <p:nvPr/>
        </p:nvSpPr>
        <p:spPr>
          <a:xfrm>
            <a:off x="1282667" y="5244968"/>
            <a:ext cx="4571885" cy="571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100% traceable link connecting verdicts to verbatim quotes and page numbers.</a:t>
            </a:r>
            <a:endParaRPr/>
          </a:p>
        </p:txBody>
      </p:sp>
      <p:sp>
        <p:nvSpPr>
          <p:cNvPr id="133" name="Google Shape;133;p14"/>
          <p:cNvSpPr/>
          <p:nvPr/>
        </p:nvSpPr>
        <p:spPr>
          <a:xfrm>
            <a:off x="6172045" y="4952876"/>
            <a:ext cx="380990" cy="380990"/>
          </a:xfrm>
          <a:prstGeom prst="ellipse">
            <a:avLst/>
          </a:prstGeom>
          <a:solidFill>
            <a:srgbClr val="2A2110"/>
          </a:solidFill>
          <a:ln cap="flat" cmpd="sng" w="9525">
            <a:solidFill>
              <a:srgbClr val="8A68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4"/>
          <p:cNvSpPr txBox="1"/>
          <p:nvPr/>
        </p:nvSpPr>
        <p:spPr>
          <a:xfrm>
            <a:off x="6172045" y="4952876"/>
            <a:ext cx="380990" cy="3809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17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6</a:t>
            </a:r>
            <a:endParaRPr/>
          </a:p>
        </p:txBody>
      </p:sp>
      <p:sp>
        <p:nvSpPr>
          <p:cNvPr id="135" name="Google Shape;135;p14"/>
          <p:cNvSpPr txBox="1"/>
          <p:nvPr/>
        </p:nvSpPr>
        <p:spPr>
          <a:xfrm>
            <a:off x="6743531" y="4965575"/>
            <a:ext cx="4571885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6. CVC Audit Scorecard</a:t>
            </a:r>
            <a:endParaRPr/>
          </a:p>
        </p:txBody>
      </p:sp>
      <p:sp>
        <p:nvSpPr>
          <p:cNvPr id="136" name="Google Shape;136;p14"/>
          <p:cNvSpPr txBox="1"/>
          <p:nvPr/>
        </p:nvSpPr>
        <p:spPr>
          <a:xfrm>
            <a:off x="6743531" y="5244968"/>
            <a:ext cx="4571885" cy="571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PASS / CONDITIONAL / REJECT in 1.2s with downloadable vigilance audit PDF.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ot.png" id="141" name="Google Shape;14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7828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5"/>
          <p:cNvSpPr txBox="1"/>
          <p:nvPr/>
        </p:nvSpPr>
        <p:spPr>
          <a:xfrm>
            <a:off x="711182" y="558786"/>
            <a:ext cx="4444888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3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✱  BFWAI/HACK 26</a:t>
            </a:r>
            <a:endParaRPr/>
          </a:p>
        </p:txBody>
      </p:sp>
      <p:sp>
        <p:nvSpPr>
          <p:cNvPr id="143" name="Google Shape;143;p15"/>
          <p:cNvSpPr txBox="1"/>
          <p:nvPr/>
        </p:nvSpPr>
        <p:spPr>
          <a:xfrm>
            <a:off x="6984825" y="571485"/>
            <a:ext cx="4495687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rgbClr val="E1E6F0"/>
                </a:solidFill>
              </a:defRPr>
            </a:pPr>
            <a:r>
              <a:rPr sz="1300">
                <a:solidFill>
                  <a:srgbClr val="E1E6F0"/>
                </a:solidFill>
              </a:rPr>
              <a:t>03 · Live Prototype</a:t>
            </a:r>
            <a:endParaRPr/>
          </a:p>
        </p:txBody>
      </p:sp>
      <p:cxnSp>
        <p:nvCxnSpPr>
          <p:cNvPr id="144" name="Google Shape;144;p15"/>
          <p:cNvCxnSpPr/>
          <p:nvPr/>
        </p:nvCxnSpPr>
        <p:spPr>
          <a:xfrm>
            <a:off x="711182" y="6286342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45" name="Google Shape;145;p15"/>
          <p:cNvSpPr txBox="1"/>
          <p:nvPr/>
        </p:nvSpPr>
        <p:spPr>
          <a:xfrm>
            <a:off x="711182" y="6413339"/>
            <a:ext cx="5714857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1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buildfastwithai.com/hackathon ↗</a:t>
            </a:r>
            <a:endParaRPr/>
          </a:p>
        </p:txBody>
      </p:sp>
      <p:sp>
        <p:nvSpPr>
          <p:cNvPr id="146" name="Google Shape;146;p15"/>
          <p:cNvSpPr txBox="1"/>
          <p:nvPr/>
        </p:nvSpPr>
        <p:spPr>
          <a:xfrm>
            <a:off x="8254793" y="6426039"/>
            <a:ext cx="3225719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900">
                <a:solidFill>
                  <a:srgbClr val="E1E6F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 / 10</a:t>
            </a:r>
            <a:endParaRPr/>
          </a:p>
        </p:txBody>
      </p:sp>
      <p:sp>
        <p:nvSpPr>
          <p:cNvPr id="147" name="Google Shape;147;p15"/>
          <p:cNvSpPr/>
          <p:nvPr/>
        </p:nvSpPr>
        <p:spPr>
          <a:xfrm>
            <a:off x="9207269" y="1079473"/>
            <a:ext cx="2273243" cy="330191"/>
          </a:xfrm>
          <a:prstGeom prst="roundRect">
            <a:avLst>
              <a:gd fmla="val 50000" name="adj"/>
            </a:avLst>
          </a:prstGeom>
          <a:solidFill>
            <a:srgbClr val="F2B632"/>
          </a:solidFill>
          <a:ln cap="flat" cmpd="sng" w="12700">
            <a:solidFill>
              <a:srgbClr val="F2B6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5"/>
          <p:cNvSpPr txBox="1"/>
          <p:nvPr/>
        </p:nvSpPr>
        <p:spPr>
          <a:xfrm>
            <a:off x="9207269" y="1079473"/>
            <a:ext cx="2273243" cy="330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141414"/>
                </a:solidFill>
              </a:defRPr>
            </a:pPr>
            <a:r>
              <a:rPr sz="1100" b="1">
                <a:solidFill>
                  <a:srgbClr val="141414"/>
                </a:solidFill>
              </a:rPr>
              <a:t>WORKING PROTOTYPE</a:t>
            </a:r>
            <a:endParaRPr/>
          </a:p>
        </p:txBody>
      </p:sp>
      <p:sp>
        <p:nvSpPr>
          <p:cNvPr id="149" name="Google Shape;149;p15"/>
          <p:cNvSpPr txBox="1"/>
          <p:nvPr/>
        </p:nvSpPr>
        <p:spPr>
          <a:xfrm>
            <a:off x="711182" y="1206469"/>
            <a:ext cx="571485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F5B937"/>
                </a:solidFill>
              </a:defRPr>
            </a:pPr>
            <a:r>
              <a:rPr sz="1200" b="1">
                <a:solidFill>
                  <a:srgbClr val="F5B937"/>
                </a:solidFill>
              </a:rPr>
              <a:t>LIVE WORKSPACE</a:t>
            </a:r>
            <a:endParaRPr/>
          </a:p>
        </p:txBody>
      </p:sp>
      <p:sp>
        <p:nvSpPr>
          <p:cNvPr id="150" name="Google Shape;150;p15"/>
          <p:cNvSpPr txBox="1"/>
          <p:nvPr/>
        </p:nvSpPr>
        <p:spPr>
          <a:xfrm>
            <a:off x="711182" y="1492212"/>
            <a:ext cx="10794730" cy="9524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FFFFFF"/>
                </a:solidFill>
              </a:defRPr>
            </a:pPr>
            <a:r>
              <a:rPr sz="2800" b="1">
                <a:solidFill>
                  <a:srgbClr val="FFFFFF"/>
                </a:solidFill>
              </a:rPr>
              <a:t>Three views. One defensible finding.</a:t>
            </a:r>
            <a:endParaRPr/>
          </a:p>
        </p:txBody>
      </p:sp>
      <p:pic>
        <p:nvPicPr>
          <p:cNvPr descr="social-card.png" id="151" name="Google Shape;151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1182" y="2476438"/>
            <a:ext cx="6349841" cy="359401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5"/>
          <p:cNvSpPr/>
          <p:nvPr/>
        </p:nvSpPr>
        <p:spPr>
          <a:xfrm>
            <a:off x="7492812" y="2539936"/>
            <a:ext cx="380990" cy="380990"/>
          </a:xfrm>
          <a:prstGeom prst="ellipse">
            <a:avLst/>
          </a:prstGeom>
          <a:solidFill>
            <a:srgbClr val="2A2110"/>
          </a:solidFill>
          <a:ln cap="flat" cmpd="sng" w="9525">
            <a:solidFill>
              <a:srgbClr val="8A68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5"/>
          <p:cNvSpPr txBox="1"/>
          <p:nvPr/>
        </p:nvSpPr>
        <p:spPr>
          <a:xfrm>
            <a:off x="7492812" y="2539936"/>
            <a:ext cx="380990" cy="3809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17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1</a:t>
            </a:r>
            <a:endParaRPr/>
          </a:p>
        </p:txBody>
      </p:sp>
      <p:sp>
        <p:nvSpPr>
          <p:cNvPr id="154" name="Google Shape;154;p15"/>
          <p:cNvSpPr txBox="1"/>
          <p:nvPr/>
        </p:nvSpPr>
        <p:spPr>
          <a:xfrm>
            <a:off x="8064298" y="2552636"/>
            <a:ext cx="3428914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Review Queue (13 Bids)</a:t>
            </a:r>
            <a:endParaRPr/>
          </a:p>
        </p:txBody>
      </p:sp>
      <p:sp>
        <p:nvSpPr>
          <p:cNvPr id="155" name="Google Shape;155;p15"/>
          <p:cNvSpPr txBox="1"/>
          <p:nvPr/>
        </p:nvSpPr>
        <p:spPr>
          <a:xfrm>
            <a:off x="8064298" y="2832029"/>
            <a:ext cx="3428914" cy="6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Side-by-side queue auditing 13 CPCL packages with live PASS, FAIL, &amp; CONDITIONAL tags.</a:t>
            </a:r>
            <a:endParaRPr/>
          </a:p>
        </p:txBody>
      </p:sp>
      <p:sp>
        <p:nvSpPr>
          <p:cNvPr id="156" name="Google Shape;156;p15"/>
          <p:cNvSpPr/>
          <p:nvPr/>
        </p:nvSpPr>
        <p:spPr>
          <a:xfrm>
            <a:off x="7492812" y="3746406"/>
            <a:ext cx="380990" cy="380990"/>
          </a:xfrm>
          <a:prstGeom prst="ellipse">
            <a:avLst/>
          </a:prstGeom>
          <a:solidFill>
            <a:srgbClr val="2A2110"/>
          </a:solidFill>
          <a:ln cap="flat" cmpd="sng" w="9525">
            <a:solidFill>
              <a:srgbClr val="8A68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5"/>
          <p:cNvSpPr txBox="1"/>
          <p:nvPr/>
        </p:nvSpPr>
        <p:spPr>
          <a:xfrm>
            <a:off x="7492812" y="3746406"/>
            <a:ext cx="380990" cy="3809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17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2</a:t>
            </a:r>
            <a:endParaRPr/>
          </a:p>
        </p:txBody>
      </p:sp>
      <p:sp>
        <p:nvSpPr>
          <p:cNvPr id="158" name="Google Shape;158;p15"/>
          <p:cNvSpPr txBox="1"/>
          <p:nvPr/>
        </p:nvSpPr>
        <p:spPr>
          <a:xfrm>
            <a:off x="8064298" y="3759106"/>
            <a:ext cx="3428914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Split-Screen Evidence</a:t>
            </a:r>
            <a:endParaRPr/>
          </a:p>
        </p:txBody>
      </p:sp>
      <p:sp>
        <p:nvSpPr>
          <p:cNvPr id="159" name="Google Shape;159;p15"/>
          <p:cNvSpPr txBox="1"/>
          <p:nvPr/>
        </p:nvSpPr>
        <p:spPr>
          <a:xfrm>
            <a:off x="8064298" y="4038499"/>
            <a:ext cx="3428914" cy="6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PyMuPDF text stream highlighting CA balance sheets, ISO validity, and SBI bank guarantees.</a:t>
            </a:r>
            <a:endParaRPr/>
          </a:p>
        </p:txBody>
      </p:sp>
      <p:sp>
        <p:nvSpPr>
          <p:cNvPr id="160" name="Google Shape;160;p15"/>
          <p:cNvSpPr/>
          <p:nvPr/>
        </p:nvSpPr>
        <p:spPr>
          <a:xfrm>
            <a:off x="7492812" y="4952876"/>
            <a:ext cx="380990" cy="380990"/>
          </a:xfrm>
          <a:prstGeom prst="ellipse">
            <a:avLst/>
          </a:prstGeom>
          <a:solidFill>
            <a:srgbClr val="2A2110"/>
          </a:solidFill>
          <a:ln cap="flat" cmpd="sng" w="9525">
            <a:solidFill>
              <a:srgbClr val="8A68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5"/>
          <p:cNvSpPr txBox="1"/>
          <p:nvPr/>
        </p:nvSpPr>
        <p:spPr>
          <a:xfrm>
            <a:off x="7492812" y="4952876"/>
            <a:ext cx="380990" cy="3809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17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3</a:t>
            </a:r>
            <a:endParaRPr/>
          </a:p>
        </p:txBody>
      </p:sp>
      <p:sp>
        <p:nvSpPr>
          <p:cNvPr id="162" name="Google Shape;162;p15"/>
          <p:cNvSpPr txBox="1"/>
          <p:nvPr/>
        </p:nvSpPr>
        <p:spPr>
          <a:xfrm>
            <a:off x="8064298" y="4965575"/>
            <a:ext cx="3428914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Cloud Deployed &amp; Verified</a:t>
            </a:r>
            <a:endParaRPr/>
          </a:p>
        </p:txBody>
      </p:sp>
      <p:sp>
        <p:nvSpPr>
          <p:cNvPr id="163" name="Google Shape;163;p15"/>
          <p:cNvSpPr txBox="1"/>
          <p:nvPr/>
        </p:nvSpPr>
        <p:spPr>
          <a:xfrm>
            <a:off x="8064298" y="5244968"/>
            <a:ext cx="3428914" cy="6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Live on Render (https://ai-build-hackathon.onrender.com) with 1-click PDF audit export.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rner.png" id="168" name="Google Shape;168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7828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6"/>
          <p:cNvSpPr txBox="1"/>
          <p:nvPr/>
        </p:nvSpPr>
        <p:spPr>
          <a:xfrm>
            <a:off x="711182" y="558786"/>
            <a:ext cx="4444888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3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✱  BFWAI/HACK 26</a:t>
            </a:r>
            <a:endParaRPr/>
          </a:p>
        </p:txBody>
      </p:sp>
      <p:sp>
        <p:nvSpPr>
          <p:cNvPr id="170" name="Google Shape;170;p16"/>
          <p:cNvSpPr txBox="1"/>
          <p:nvPr/>
        </p:nvSpPr>
        <p:spPr>
          <a:xfrm>
            <a:off x="6984825" y="571485"/>
            <a:ext cx="4495687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1100">
                <a:solidFill>
                  <a:srgbClr val="E1E6F0"/>
                </a:solidFill>
                <a:latin typeface="Space Grotesk"/>
                <a:ea typeface="Space Grotesk"/>
                <a:cs typeface="Space Grotesk"/>
                <a:sym typeface="Space Grotesk"/>
              </a:rPr>
              <a:t>02 · The problem</a:t>
            </a:r>
            <a:endParaRPr/>
          </a:p>
        </p:txBody>
      </p:sp>
      <p:cxnSp>
        <p:nvCxnSpPr>
          <p:cNvPr id="171" name="Google Shape;171;p16"/>
          <p:cNvCxnSpPr/>
          <p:nvPr/>
        </p:nvCxnSpPr>
        <p:spPr>
          <a:xfrm>
            <a:off x="711182" y="6286342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72" name="Google Shape;172;p16"/>
          <p:cNvSpPr txBox="1"/>
          <p:nvPr/>
        </p:nvSpPr>
        <p:spPr>
          <a:xfrm>
            <a:off x="711182" y="6413339"/>
            <a:ext cx="5714857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1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buildfastwithai.com/hackathon ↗</a:t>
            </a:r>
            <a:endParaRPr/>
          </a:p>
        </p:txBody>
      </p:sp>
      <p:sp>
        <p:nvSpPr>
          <p:cNvPr id="173" name="Google Shape;173;p16"/>
          <p:cNvSpPr txBox="1"/>
          <p:nvPr/>
        </p:nvSpPr>
        <p:spPr>
          <a:xfrm>
            <a:off x="8254793" y="6426039"/>
            <a:ext cx="3225719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900">
                <a:solidFill>
                  <a:srgbClr val="E1E6F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 / 10</a:t>
            </a:r>
            <a:endParaRPr/>
          </a:p>
        </p:txBody>
      </p:sp>
      <p:sp>
        <p:nvSpPr>
          <p:cNvPr id="174" name="Google Shape;174;p16"/>
          <p:cNvSpPr txBox="1"/>
          <p:nvPr/>
        </p:nvSpPr>
        <p:spPr>
          <a:xfrm>
            <a:off x="711182" y="1206469"/>
            <a:ext cx="571485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PROBLEM</a:t>
            </a:r>
            <a:endParaRPr/>
          </a:p>
        </p:txBody>
      </p:sp>
      <p:sp>
        <p:nvSpPr>
          <p:cNvPr id="175" name="Google Shape;175;p16"/>
          <p:cNvSpPr txBox="1"/>
          <p:nvPr/>
        </p:nvSpPr>
        <p:spPr>
          <a:xfrm>
            <a:off x="711182" y="1492212"/>
            <a:ext cx="10794730" cy="9524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5000">
                <a:solidFill>
                  <a:srgbClr val="F4EFE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The problem </a:t>
            </a:r>
            <a:r>
              <a:rPr b="0" i="1" lang="en-US" sz="50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we're solving</a:t>
            </a:r>
            <a:endParaRPr/>
          </a:p>
        </p:txBody>
      </p:sp>
      <p:sp>
        <p:nvSpPr>
          <p:cNvPr id="176" name="Google Shape;176;p16"/>
          <p:cNvSpPr/>
          <p:nvPr/>
        </p:nvSpPr>
        <p:spPr>
          <a:xfrm>
            <a:off x="711182" y="2539936"/>
            <a:ext cx="5206869" cy="1587460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6"/>
          <p:cNvSpPr txBox="1"/>
          <p:nvPr/>
        </p:nvSpPr>
        <p:spPr>
          <a:xfrm>
            <a:off x="914377" y="2717732"/>
            <a:ext cx="4800479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PROBLEM STATEMENT</a:t>
            </a:r>
            <a:endParaRPr/>
          </a:p>
        </p:txBody>
      </p:sp>
      <p:sp>
        <p:nvSpPr>
          <p:cNvPr id="178" name="Google Shape;178;p16"/>
          <p:cNvSpPr txBox="1"/>
          <p:nvPr/>
        </p:nvSpPr>
        <p:spPr>
          <a:xfrm>
            <a:off x="914377" y="2984425"/>
            <a:ext cx="4800479" cy="977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F8FAFC"/>
                </a:solidFill>
              </a:defRPr>
            </a:pPr>
            <a:r>
              <a:rPr sz="1300" b="0">
                <a:solidFill>
                  <a:srgbClr val="F8FAFC"/>
                </a:solidFill>
              </a:rPr>
              <a:t>PS-04 · AI Decision Engine for Business Data</a:t>
            </a:r>
            <a:endParaRPr/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F8FAFC"/>
                </a:solidFill>
              </a:defRPr>
            </a:pPr>
            <a:r>
              <a:rPr sz="1300" b="0">
                <a:solidFill>
                  <a:srgbClr val="F8FAFC"/>
                </a:solidFill>
              </a:rPr>
              <a:t>High-Stakes Technical Bid Verification Overhead in Public Procurement (CPCL / MoPNG)</a:t>
            </a:r>
            <a:endParaRPr/>
          </a:p>
        </p:txBody>
      </p:sp>
      <p:sp>
        <p:nvSpPr>
          <p:cNvPr id="179" name="Google Shape;179;p16"/>
          <p:cNvSpPr/>
          <p:nvPr/>
        </p:nvSpPr>
        <p:spPr>
          <a:xfrm>
            <a:off x="6273643" y="2539936"/>
            <a:ext cx="5206869" cy="1587460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6"/>
          <p:cNvSpPr txBox="1"/>
          <p:nvPr/>
        </p:nvSpPr>
        <p:spPr>
          <a:xfrm>
            <a:off x="6476838" y="2717732"/>
            <a:ext cx="4800479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WHO FACES IT</a:t>
            </a:r>
            <a:endParaRPr/>
          </a:p>
        </p:txBody>
      </p:sp>
      <p:sp>
        <p:nvSpPr>
          <p:cNvPr id="181" name="Google Shape;181;p16"/>
          <p:cNvSpPr txBox="1"/>
          <p:nvPr/>
        </p:nvSpPr>
        <p:spPr>
          <a:xfrm>
            <a:off x="6476838" y="2984425"/>
            <a:ext cx="4800479" cy="977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Technical Evaluation Committees, Vigilance Officers (CVC), and GeM Procurement Executives across CPSEs (CPCL, Indian Oil, ONGC) handling refinery &amp; infrastructure tenders.</a:t>
            </a:r>
            <a:endParaRPr/>
          </a:p>
        </p:txBody>
      </p:sp>
      <p:sp>
        <p:nvSpPr>
          <p:cNvPr id="182" name="Google Shape;182;p16"/>
          <p:cNvSpPr/>
          <p:nvPr/>
        </p:nvSpPr>
        <p:spPr>
          <a:xfrm>
            <a:off x="711182" y="4381390"/>
            <a:ext cx="10769330" cy="1587460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6"/>
          <p:cNvSpPr txBox="1"/>
          <p:nvPr/>
        </p:nvSpPr>
        <p:spPr>
          <a:xfrm>
            <a:off x="914377" y="4559186"/>
            <a:ext cx="10362940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WHAT IT COSTS THEM TODAY</a:t>
            </a:r>
            <a:endParaRPr/>
          </a:p>
        </p:txBody>
      </p:sp>
      <p:sp>
        <p:nvSpPr>
          <p:cNvPr id="184" name="Google Shape;184;p16"/>
          <p:cNvSpPr txBox="1"/>
          <p:nvPr/>
        </p:nvSpPr>
        <p:spPr>
          <a:xfrm>
            <a:off x="914377" y="4825879"/>
            <a:ext cx="10362940" cy="977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• 3 to 5 business days spent manually auditing 100+ pages of unstructured scans per vendor.</a:t>
            </a:r>
            <a:endParaRPr/>
          </a:p>
          <a:p>
            <a:pPr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• 40%+ disqualification rate due to non-material clerical oversights, unfairly excluding compliant Indian MSMEs.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• Severe vigilance &amp; legal scrutiny under CVC guidelines from forged GSTINs, expired ISOs, or shell fronting.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• Standard LLMs hallucinate financial figures and fail to provide clause-verifiable evidence chains.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op.png" id="189" name="Google Shape;18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7828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7"/>
          <p:cNvSpPr txBox="1"/>
          <p:nvPr/>
        </p:nvSpPr>
        <p:spPr>
          <a:xfrm>
            <a:off x="711182" y="558786"/>
            <a:ext cx="4444888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3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✱  BFWAI/HACK 26</a:t>
            </a:r>
            <a:endParaRPr/>
          </a:p>
        </p:txBody>
      </p:sp>
      <p:sp>
        <p:nvSpPr>
          <p:cNvPr id="191" name="Google Shape;191;p17"/>
          <p:cNvSpPr txBox="1"/>
          <p:nvPr/>
        </p:nvSpPr>
        <p:spPr>
          <a:xfrm>
            <a:off x="6984825" y="571485"/>
            <a:ext cx="4495687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1100">
                <a:solidFill>
                  <a:srgbClr val="E1E6F0"/>
                </a:solidFill>
                <a:latin typeface="Space Grotesk"/>
                <a:ea typeface="Space Grotesk"/>
                <a:cs typeface="Space Grotesk"/>
                <a:sym typeface="Space Grotesk"/>
              </a:rPr>
              <a:t>03 · Solution overview</a:t>
            </a:r>
            <a:endParaRPr/>
          </a:p>
        </p:txBody>
      </p:sp>
      <p:cxnSp>
        <p:nvCxnSpPr>
          <p:cNvPr id="192" name="Google Shape;192;p17"/>
          <p:cNvCxnSpPr/>
          <p:nvPr/>
        </p:nvCxnSpPr>
        <p:spPr>
          <a:xfrm>
            <a:off x="711182" y="6286342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93" name="Google Shape;193;p17"/>
          <p:cNvSpPr txBox="1"/>
          <p:nvPr/>
        </p:nvSpPr>
        <p:spPr>
          <a:xfrm>
            <a:off x="711182" y="6413339"/>
            <a:ext cx="5714857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1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buildfastwithai.com/hackathon ↗</a:t>
            </a:r>
            <a:endParaRPr/>
          </a:p>
        </p:txBody>
      </p:sp>
      <p:sp>
        <p:nvSpPr>
          <p:cNvPr id="194" name="Google Shape;194;p17"/>
          <p:cNvSpPr txBox="1"/>
          <p:nvPr/>
        </p:nvSpPr>
        <p:spPr>
          <a:xfrm>
            <a:off x="8254793" y="6426039"/>
            <a:ext cx="3225719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900">
                <a:solidFill>
                  <a:srgbClr val="E1E6F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 / 10</a:t>
            </a:r>
            <a:endParaRPr/>
          </a:p>
        </p:txBody>
      </p:sp>
      <p:sp>
        <p:nvSpPr>
          <p:cNvPr id="195" name="Google Shape;195;p17"/>
          <p:cNvSpPr txBox="1"/>
          <p:nvPr/>
        </p:nvSpPr>
        <p:spPr>
          <a:xfrm>
            <a:off x="711182" y="1206469"/>
            <a:ext cx="571485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SOLUTION OVERVIEW</a:t>
            </a:r>
            <a:endParaRPr/>
          </a:p>
        </p:txBody>
      </p:sp>
      <p:sp>
        <p:nvSpPr>
          <p:cNvPr id="196" name="Google Shape;196;p17"/>
          <p:cNvSpPr txBox="1"/>
          <p:nvPr/>
        </p:nvSpPr>
        <p:spPr>
          <a:xfrm>
            <a:off x="711182" y="1492212"/>
            <a:ext cx="10794730" cy="9524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5000">
                <a:solidFill>
                  <a:srgbClr val="F4EFE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What </a:t>
            </a:r>
            <a:r>
              <a:rPr b="0" i="1" lang="en-US" sz="50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we're building</a:t>
            </a:r>
            <a:endParaRPr/>
          </a:p>
        </p:txBody>
      </p:sp>
      <p:sp>
        <p:nvSpPr>
          <p:cNvPr id="197" name="Google Shape;197;p17"/>
          <p:cNvSpPr/>
          <p:nvPr/>
        </p:nvSpPr>
        <p:spPr>
          <a:xfrm>
            <a:off x="711182" y="2539936"/>
            <a:ext cx="10769330" cy="1587460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7"/>
          <p:cNvSpPr txBox="1"/>
          <p:nvPr/>
        </p:nvSpPr>
        <p:spPr>
          <a:xfrm>
            <a:off x="914377" y="2717732"/>
            <a:ext cx="10362940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 TWO OR THREE LINES</a:t>
            </a:r>
            <a:endParaRPr/>
          </a:p>
        </p:txBody>
      </p:sp>
      <p:sp>
        <p:nvSpPr>
          <p:cNvPr id="199" name="Google Shape;199;p17"/>
          <p:cNvSpPr txBox="1"/>
          <p:nvPr/>
        </p:nvSpPr>
        <p:spPr>
          <a:xfrm>
            <a:off x="914377" y="2984425"/>
            <a:ext cx="10362940" cy="977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rgbClr val="F8FAFC"/>
                </a:solidFill>
              </a:defRPr>
            </a:pPr>
            <a:r>
              <a:rPr sz="1300">
                <a:solidFill>
                  <a:srgbClr val="F8FAFC"/>
                </a:solidFill>
              </a:rPr>
              <a:t>TenderPulse AI is an autonomous, zero-hallucination AI decision engine that ingests scanned multi-page bid dossiers, validates them against official NIT criteria via dual-layer verification, and generates a vigilance-grade audit verdict in 1.2 seconds.</a:t>
            </a:r>
            <a:endParaRPr/>
          </a:p>
        </p:txBody>
      </p:sp>
      <p:sp>
        <p:nvSpPr>
          <p:cNvPr id="200" name="Google Shape;200;p17"/>
          <p:cNvSpPr/>
          <p:nvPr/>
        </p:nvSpPr>
        <p:spPr>
          <a:xfrm>
            <a:off x="711182" y="4381390"/>
            <a:ext cx="5206869" cy="1587460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7"/>
          <p:cNvSpPr txBox="1"/>
          <p:nvPr/>
        </p:nvSpPr>
        <p:spPr>
          <a:xfrm>
            <a:off x="914377" y="4559186"/>
            <a:ext cx="4800479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WHAT THE USER DOES</a:t>
            </a:r>
            <a:endParaRPr/>
          </a:p>
        </p:txBody>
      </p:sp>
      <p:sp>
        <p:nvSpPr>
          <p:cNvPr id="202" name="Google Shape;202;p17"/>
          <p:cNvSpPr txBox="1"/>
          <p:nvPr/>
        </p:nvSpPr>
        <p:spPr>
          <a:xfrm>
            <a:off x="914377" y="4825879"/>
            <a:ext cx="4800479" cy="977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The procurement officer selects or uploads a vendor's multi-page technical bid package (PDF) and clicks 'Audit Selected Dossier'.</a:t>
            </a:r>
            <a:endParaRPr/>
          </a:p>
        </p:txBody>
      </p:sp>
      <p:sp>
        <p:nvSpPr>
          <p:cNvPr id="203" name="Google Shape;203;p17"/>
          <p:cNvSpPr/>
          <p:nvPr/>
        </p:nvSpPr>
        <p:spPr>
          <a:xfrm>
            <a:off x="6273643" y="4381390"/>
            <a:ext cx="5206869" cy="1587460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7"/>
          <p:cNvSpPr txBox="1"/>
          <p:nvPr/>
        </p:nvSpPr>
        <p:spPr>
          <a:xfrm>
            <a:off x="6476838" y="4559186"/>
            <a:ext cx="4800479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WHAT THEY GET BACK</a:t>
            </a:r>
            <a:endParaRPr/>
          </a:p>
        </p:txBody>
      </p:sp>
      <p:sp>
        <p:nvSpPr>
          <p:cNvPr id="205" name="Google Shape;205;p17"/>
          <p:cNvSpPr txBox="1"/>
          <p:nvPr/>
        </p:nvSpPr>
        <p:spPr>
          <a:xfrm>
            <a:off x="6476838" y="4825879"/>
            <a:ext cx="4800479" cy="977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An instant, CVC-defensible compliance scorecard (PASS / CONDITIONAL / REJECT) with clause-level citations, reflection traces, and a one-click downloadable PDF audit report.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eft.png" id="210" name="Google Shape;21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7828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18"/>
          <p:cNvSpPr txBox="1"/>
          <p:nvPr/>
        </p:nvSpPr>
        <p:spPr>
          <a:xfrm>
            <a:off x="711182" y="558786"/>
            <a:ext cx="4444888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3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✱  BFWAI/HACK 26</a:t>
            </a:r>
            <a:endParaRPr/>
          </a:p>
        </p:txBody>
      </p:sp>
      <p:sp>
        <p:nvSpPr>
          <p:cNvPr id="212" name="Google Shape;212;p18"/>
          <p:cNvSpPr txBox="1"/>
          <p:nvPr/>
        </p:nvSpPr>
        <p:spPr>
          <a:xfrm>
            <a:off x="6984825" y="571485"/>
            <a:ext cx="4495687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1100">
                <a:solidFill>
                  <a:srgbClr val="E1E6F0"/>
                </a:solidFill>
                <a:latin typeface="Space Grotesk"/>
                <a:ea typeface="Space Grotesk"/>
                <a:cs typeface="Space Grotesk"/>
                <a:sym typeface="Space Grotesk"/>
              </a:rPr>
              <a:t>04 · Technical approach</a:t>
            </a:r>
            <a:endParaRPr/>
          </a:p>
        </p:txBody>
      </p:sp>
      <p:cxnSp>
        <p:nvCxnSpPr>
          <p:cNvPr id="213" name="Google Shape;213;p18"/>
          <p:cNvCxnSpPr/>
          <p:nvPr/>
        </p:nvCxnSpPr>
        <p:spPr>
          <a:xfrm>
            <a:off x="711182" y="6286342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14" name="Google Shape;214;p18"/>
          <p:cNvSpPr txBox="1"/>
          <p:nvPr/>
        </p:nvSpPr>
        <p:spPr>
          <a:xfrm>
            <a:off x="711182" y="6413339"/>
            <a:ext cx="5714857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1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buildfastwithai.com/hackathon ↗</a:t>
            </a:r>
            <a:endParaRPr/>
          </a:p>
        </p:txBody>
      </p:sp>
      <p:sp>
        <p:nvSpPr>
          <p:cNvPr id="215" name="Google Shape;215;p18"/>
          <p:cNvSpPr txBox="1"/>
          <p:nvPr/>
        </p:nvSpPr>
        <p:spPr>
          <a:xfrm>
            <a:off x="8254793" y="6426039"/>
            <a:ext cx="3225719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900">
                <a:solidFill>
                  <a:srgbClr val="E1E6F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06 / 10</a:t>
            </a:r>
            <a:endParaRPr/>
          </a:p>
        </p:txBody>
      </p:sp>
      <p:sp>
        <p:nvSpPr>
          <p:cNvPr id="216" name="Google Shape;216;p18"/>
          <p:cNvSpPr txBox="1"/>
          <p:nvPr/>
        </p:nvSpPr>
        <p:spPr>
          <a:xfrm>
            <a:off x="711182" y="1206469"/>
            <a:ext cx="571485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TECHNICAL APPROACH</a:t>
            </a:r>
            <a:endParaRPr/>
          </a:p>
        </p:txBody>
      </p:sp>
      <p:sp>
        <p:nvSpPr>
          <p:cNvPr id="217" name="Google Shape;217;p18"/>
          <p:cNvSpPr txBox="1"/>
          <p:nvPr/>
        </p:nvSpPr>
        <p:spPr>
          <a:xfrm>
            <a:off x="711182" y="1492212"/>
            <a:ext cx="10794730" cy="9524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5000">
                <a:solidFill>
                  <a:srgbClr val="F4EFE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How </a:t>
            </a:r>
            <a:r>
              <a:rPr b="0" i="1" lang="en-US" sz="50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it works</a:t>
            </a:r>
            <a:endParaRPr/>
          </a:p>
        </p:txBody>
      </p:sp>
      <p:sp>
        <p:nvSpPr>
          <p:cNvPr id="218" name="Google Shape;218;p18"/>
          <p:cNvSpPr/>
          <p:nvPr/>
        </p:nvSpPr>
        <p:spPr>
          <a:xfrm>
            <a:off x="711182" y="2539936"/>
            <a:ext cx="5206869" cy="1587460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8"/>
          <p:cNvSpPr txBox="1"/>
          <p:nvPr/>
        </p:nvSpPr>
        <p:spPr>
          <a:xfrm>
            <a:off x="914377" y="2717732"/>
            <a:ext cx="4800479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MODELS</a:t>
            </a:r>
            <a:endParaRPr/>
          </a:p>
        </p:txBody>
      </p:sp>
      <p:sp>
        <p:nvSpPr>
          <p:cNvPr id="220" name="Google Shape;220;p18"/>
          <p:cNvSpPr txBox="1"/>
          <p:nvPr/>
        </p:nvSpPr>
        <p:spPr>
          <a:xfrm>
            <a:off x="914377" y="2984425"/>
            <a:ext cx="4800479" cy="977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Dual-layer hybrid stack: Deterministic constraint algorithms for statutory math/dates + LiteLLM / Semantic Agent for contextual scope matching, technical spec equivalence, and UDYAM MSE relief analysis.</a:t>
            </a:r>
            <a:endParaRPr/>
          </a:p>
        </p:txBody>
      </p:sp>
      <p:sp>
        <p:nvSpPr>
          <p:cNvPr id="221" name="Google Shape;221;p18"/>
          <p:cNvSpPr/>
          <p:nvPr/>
        </p:nvSpPr>
        <p:spPr>
          <a:xfrm>
            <a:off x="6273643" y="2539936"/>
            <a:ext cx="5206869" cy="1587460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8"/>
          <p:cNvSpPr txBox="1"/>
          <p:nvPr/>
        </p:nvSpPr>
        <p:spPr>
          <a:xfrm>
            <a:off x="6476838" y="2717732"/>
            <a:ext cx="4800479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TOOLS &amp; FRAMEWORKS</a:t>
            </a:r>
            <a:endParaRPr/>
          </a:p>
        </p:txBody>
      </p:sp>
      <p:sp>
        <p:nvSpPr>
          <p:cNvPr id="223" name="Google Shape;223;p18"/>
          <p:cNvSpPr txBox="1"/>
          <p:nvPr/>
        </p:nvSpPr>
        <p:spPr>
          <a:xfrm>
            <a:off x="6476838" y="2984425"/>
            <a:ext cx="4800479" cy="977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PyMuPDF (layout-normalized parsing), Python 3.11, Mod-36 GSTIN Validator, ReportLab (PDF audit generator), and Docker / Render cloud deployment.</a:t>
            </a:r>
            <a:endParaRPr/>
          </a:p>
        </p:txBody>
      </p:sp>
      <p:sp>
        <p:nvSpPr>
          <p:cNvPr id="224" name="Google Shape;224;p18"/>
          <p:cNvSpPr/>
          <p:nvPr/>
        </p:nvSpPr>
        <p:spPr>
          <a:xfrm>
            <a:off x="711182" y="4381390"/>
            <a:ext cx="5206869" cy="1587460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8"/>
          <p:cNvSpPr txBox="1"/>
          <p:nvPr/>
        </p:nvSpPr>
        <p:spPr>
          <a:xfrm>
            <a:off x="914377" y="4559186"/>
            <a:ext cx="4800479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DATA</a:t>
            </a:r>
            <a:endParaRPr/>
          </a:p>
        </p:txBody>
      </p:sp>
      <p:sp>
        <p:nvSpPr>
          <p:cNvPr id="226" name="Google Shape;226;p18"/>
          <p:cNvSpPr txBox="1"/>
          <p:nvPr/>
        </p:nvSpPr>
        <p:spPr>
          <a:xfrm>
            <a:off x="914377" y="4825879"/>
            <a:ext cx="4800479" cy="977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13 benchmark tender dossiers including authentic CPCL Manali Refinery packages (Technip Energies) and targeted edge cases (expired ISO, turnover deficit, EMD shortfall, and UDYAM MSME relief).</a:t>
            </a:r>
            <a:endParaRPr/>
          </a:p>
        </p:txBody>
      </p:sp>
      <p:sp>
        <p:nvSpPr>
          <p:cNvPr id="227" name="Google Shape;227;p18"/>
          <p:cNvSpPr/>
          <p:nvPr/>
        </p:nvSpPr>
        <p:spPr>
          <a:xfrm>
            <a:off x="6273643" y="4381390"/>
            <a:ext cx="5206869" cy="1587460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8"/>
          <p:cNvSpPr txBox="1"/>
          <p:nvPr/>
        </p:nvSpPr>
        <p:spPr>
          <a:xfrm>
            <a:off x="6476838" y="4559186"/>
            <a:ext cx="4800479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HUMAN APPROVAL</a:t>
            </a:r>
            <a:endParaRPr/>
          </a:p>
        </p:txBody>
      </p:sp>
      <p:sp>
        <p:nvSpPr>
          <p:cNvPr id="229" name="Google Shape;229;p18"/>
          <p:cNvSpPr txBox="1"/>
          <p:nvPr/>
        </p:nvSpPr>
        <p:spPr>
          <a:xfrm>
            <a:off x="6476838" y="4825879"/>
            <a:ext cx="4800479" cy="977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CONDITIONAL verdicts pause for human committee sign-off on borderline MSME exemptions (Clause 4.5) and pending certificate renewals, ensuring complete CVC vigilance compliance.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rner.png" id="234" name="Google Shape;2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7828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19"/>
          <p:cNvSpPr txBox="1"/>
          <p:nvPr/>
        </p:nvSpPr>
        <p:spPr>
          <a:xfrm>
            <a:off x="711182" y="558786"/>
            <a:ext cx="4444888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3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✱  BFWAI/HACK 26</a:t>
            </a:r>
            <a:endParaRPr/>
          </a:p>
        </p:txBody>
      </p:sp>
      <p:sp>
        <p:nvSpPr>
          <p:cNvPr id="236" name="Google Shape;236;p19"/>
          <p:cNvSpPr txBox="1"/>
          <p:nvPr/>
        </p:nvSpPr>
        <p:spPr>
          <a:xfrm>
            <a:off x="6984825" y="571485"/>
            <a:ext cx="4495687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1100">
                <a:solidFill>
                  <a:srgbClr val="E1E6F0"/>
                </a:solidFill>
                <a:latin typeface="Space Grotesk"/>
                <a:ea typeface="Space Grotesk"/>
                <a:cs typeface="Space Grotesk"/>
                <a:sym typeface="Space Grotesk"/>
              </a:rPr>
              <a:t>05 · Key features</a:t>
            </a:r>
            <a:endParaRPr/>
          </a:p>
        </p:txBody>
      </p:sp>
      <p:cxnSp>
        <p:nvCxnSpPr>
          <p:cNvPr id="237" name="Google Shape;237;p19"/>
          <p:cNvCxnSpPr/>
          <p:nvPr/>
        </p:nvCxnSpPr>
        <p:spPr>
          <a:xfrm>
            <a:off x="711182" y="6286342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38" name="Google Shape;238;p19"/>
          <p:cNvSpPr txBox="1"/>
          <p:nvPr/>
        </p:nvSpPr>
        <p:spPr>
          <a:xfrm>
            <a:off x="711182" y="6413339"/>
            <a:ext cx="5714857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1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buildfastwithai.com/hackathon ↗</a:t>
            </a:r>
            <a:endParaRPr/>
          </a:p>
        </p:txBody>
      </p:sp>
      <p:sp>
        <p:nvSpPr>
          <p:cNvPr id="239" name="Google Shape;239;p19"/>
          <p:cNvSpPr txBox="1"/>
          <p:nvPr/>
        </p:nvSpPr>
        <p:spPr>
          <a:xfrm>
            <a:off x="8254793" y="6426039"/>
            <a:ext cx="3225719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900">
                <a:solidFill>
                  <a:srgbClr val="E1E6F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07 / 10</a:t>
            </a:r>
            <a:endParaRPr/>
          </a:p>
        </p:txBody>
      </p:sp>
      <p:sp>
        <p:nvSpPr>
          <p:cNvPr id="240" name="Google Shape;240;p19"/>
          <p:cNvSpPr txBox="1"/>
          <p:nvPr/>
        </p:nvSpPr>
        <p:spPr>
          <a:xfrm>
            <a:off x="711182" y="1206469"/>
            <a:ext cx="571485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KEY FEATURES</a:t>
            </a:r>
            <a:endParaRPr/>
          </a:p>
        </p:txBody>
      </p:sp>
      <p:sp>
        <p:nvSpPr>
          <p:cNvPr id="241" name="Google Shape;241;p19"/>
          <p:cNvSpPr txBox="1"/>
          <p:nvPr/>
        </p:nvSpPr>
        <p:spPr>
          <a:xfrm>
            <a:off x="711182" y="1492212"/>
            <a:ext cx="10794730" cy="9524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5000">
                <a:solidFill>
                  <a:srgbClr val="F4EFE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What it will do </a:t>
            </a:r>
            <a:r>
              <a:rPr b="0" i="1" lang="en-US" sz="50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by 1 Oct</a:t>
            </a:r>
            <a:endParaRPr/>
          </a:p>
        </p:txBody>
      </p:sp>
      <p:cxnSp>
        <p:nvCxnSpPr>
          <p:cNvPr id="242" name="Google Shape;242;p19"/>
          <p:cNvCxnSpPr/>
          <p:nvPr/>
        </p:nvCxnSpPr>
        <p:spPr>
          <a:xfrm>
            <a:off x="711182" y="2539936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43" name="Google Shape;243;p19"/>
          <p:cNvSpPr txBox="1"/>
          <p:nvPr/>
        </p:nvSpPr>
        <p:spPr>
          <a:xfrm>
            <a:off x="711182" y="2679633"/>
            <a:ext cx="634984" cy="444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24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01</a:t>
            </a:r>
            <a:endParaRPr/>
          </a:p>
        </p:txBody>
      </p:sp>
      <p:sp>
        <p:nvSpPr>
          <p:cNvPr id="244" name="Google Shape;244;p19"/>
          <p:cNvSpPr txBox="1"/>
          <p:nvPr/>
        </p:nvSpPr>
        <p:spPr>
          <a:xfrm>
            <a:off x="1460463" y="2705032"/>
            <a:ext cx="3555911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Zero-Hallucination Solvers</a:t>
            </a:r>
            <a:endParaRPr/>
          </a:p>
        </p:txBody>
      </p:sp>
      <p:sp>
        <p:nvSpPr>
          <p:cNvPr id="245" name="Google Shape;245;p19"/>
          <p:cNvSpPr txBox="1"/>
          <p:nvPr/>
        </p:nvSpPr>
        <p:spPr>
          <a:xfrm>
            <a:off x="5206869" y="2730431"/>
            <a:ext cx="6273643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Deterministic regex, Mod-36 checksum, and date-math engines guarantee 100% accuracy on statutory criteria.</a:t>
            </a:r>
            <a:endParaRPr/>
          </a:p>
        </p:txBody>
      </p:sp>
      <p:cxnSp>
        <p:nvCxnSpPr>
          <p:cNvPr id="246" name="Google Shape;246;p19"/>
          <p:cNvCxnSpPr/>
          <p:nvPr/>
        </p:nvCxnSpPr>
        <p:spPr>
          <a:xfrm>
            <a:off x="711182" y="3238419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47" name="Google Shape;247;p19"/>
          <p:cNvSpPr txBox="1"/>
          <p:nvPr/>
        </p:nvSpPr>
        <p:spPr>
          <a:xfrm>
            <a:off x="711182" y="3378115"/>
            <a:ext cx="634984" cy="444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24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02</a:t>
            </a:r>
            <a:endParaRPr/>
          </a:p>
        </p:txBody>
      </p:sp>
      <p:sp>
        <p:nvSpPr>
          <p:cNvPr id="248" name="Google Shape;248;p19"/>
          <p:cNvSpPr txBox="1"/>
          <p:nvPr/>
        </p:nvSpPr>
        <p:spPr>
          <a:xfrm>
            <a:off x="1460463" y="3403514"/>
            <a:ext cx="3555911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Traceable Attribution Graph</a:t>
            </a:r>
            <a:endParaRPr/>
          </a:p>
        </p:txBody>
      </p:sp>
      <p:sp>
        <p:nvSpPr>
          <p:cNvPr id="249" name="Google Shape;249;p19"/>
          <p:cNvSpPr txBox="1"/>
          <p:nvPr/>
        </p:nvSpPr>
        <p:spPr>
          <a:xfrm>
            <a:off x="5206869" y="3428914"/>
            <a:ext cx="6273643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Every PASS/FAIL verdict is linked to exact page numbers, clause IDs, and verbatim quotations.</a:t>
            </a:r>
            <a:endParaRPr/>
          </a:p>
        </p:txBody>
      </p:sp>
      <p:cxnSp>
        <p:nvCxnSpPr>
          <p:cNvPr id="250" name="Google Shape;250;p19"/>
          <p:cNvCxnSpPr/>
          <p:nvPr/>
        </p:nvCxnSpPr>
        <p:spPr>
          <a:xfrm>
            <a:off x="711182" y="3936901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51" name="Google Shape;251;p19"/>
          <p:cNvSpPr txBox="1"/>
          <p:nvPr/>
        </p:nvSpPr>
        <p:spPr>
          <a:xfrm>
            <a:off x="711182" y="4076598"/>
            <a:ext cx="634984" cy="444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24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03</a:t>
            </a:r>
            <a:endParaRPr/>
          </a:p>
        </p:txBody>
      </p:sp>
      <p:sp>
        <p:nvSpPr>
          <p:cNvPr id="252" name="Google Shape;252;p19"/>
          <p:cNvSpPr txBox="1"/>
          <p:nvPr/>
        </p:nvSpPr>
        <p:spPr>
          <a:xfrm>
            <a:off x="1460463" y="4101997"/>
            <a:ext cx="3555911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MSME Relief Engine</a:t>
            </a:r>
            <a:endParaRPr/>
          </a:p>
        </p:txBody>
      </p:sp>
      <p:sp>
        <p:nvSpPr>
          <p:cNvPr id="253" name="Google Shape;253;p19"/>
          <p:cNvSpPr txBox="1"/>
          <p:nvPr/>
        </p:nvSpPr>
        <p:spPr>
          <a:xfrm>
            <a:off x="5206869" y="4127396"/>
            <a:ext cx="6273643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Recognizes valid UDYAM registrations and applies turnover relaxations under Public Procurement Policy Clause 4.5.</a:t>
            </a:r>
            <a:endParaRPr/>
          </a:p>
        </p:txBody>
      </p:sp>
      <p:cxnSp>
        <p:nvCxnSpPr>
          <p:cNvPr id="254" name="Google Shape;254;p19"/>
          <p:cNvCxnSpPr/>
          <p:nvPr/>
        </p:nvCxnSpPr>
        <p:spPr>
          <a:xfrm>
            <a:off x="711182" y="4635384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55" name="Google Shape;255;p19"/>
          <p:cNvSpPr txBox="1"/>
          <p:nvPr/>
        </p:nvSpPr>
        <p:spPr>
          <a:xfrm>
            <a:off x="711182" y="4775080"/>
            <a:ext cx="634984" cy="444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24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04</a:t>
            </a:r>
            <a:endParaRPr/>
          </a:p>
        </p:txBody>
      </p:sp>
      <p:sp>
        <p:nvSpPr>
          <p:cNvPr id="256" name="Google Shape;256;p19"/>
          <p:cNvSpPr txBox="1"/>
          <p:nvPr/>
        </p:nvSpPr>
        <p:spPr>
          <a:xfrm>
            <a:off x="1460463" y="4800479"/>
            <a:ext cx="3555911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Vigilance-Grade Audit Trail</a:t>
            </a:r>
            <a:endParaRPr/>
          </a:p>
        </p:txBody>
      </p:sp>
      <p:sp>
        <p:nvSpPr>
          <p:cNvPr id="257" name="Google Shape;257;p19"/>
          <p:cNvSpPr txBox="1"/>
          <p:nvPr/>
        </p:nvSpPr>
        <p:spPr>
          <a:xfrm>
            <a:off x="5206869" y="4825879"/>
            <a:ext cx="6273643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Exports complete CVC-defensible PDF audit scorecards and full agent execution trajectory logs (.jsonl).</a:t>
            </a:r>
            <a:endParaRPr/>
          </a:p>
        </p:txBody>
      </p:sp>
      <p:cxnSp>
        <p:nvCxnSpPr>
          <p:cNvPr id="258" name="Google Shape;258;p19"/>
          <p:cNvCxnSpPr/>
          <p:nvPr/>
        </p:nvCxnSpPr>
        <p:spPr>
          <a:xfrm>
            <a:off x="711182" y="5333866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59" name="Google Shape;259;p19"/>
          <p:cNvSpPr txBox="1"/>
          <p:nvPr/>
        </p:nvSpPr>
        <p:spPr>
          <a:xfrm>
            <a:off x="711182" y="5473563"/>
            <a:ext cx="634984" cy="444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1" lang="en-US" sz="24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05</a:t>
            </a:r>
            <a:endParaRPr/>
          </a:p>
        </p:txBody>
      </p:sp>
      <p:sp>
        <p:nvSpPr>
          <p:cNvPr id="260" name="Google Shape;260;p19"/>
          <p:cNvSpPr txBox="1"/>
          <p:nvPr/>
        </p:nvSpPr>
        <p:spPr>
          <a:xfrm>
            <a:off x="1460463" y="5498962"/>
            <a:ext cx="3555911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FD778"/>
                </a:solidFill>
              </a:defRPr>
            </a:pPr>
            <a:r>
              <a:rPr sz="1400" b="1">
                <a:solidFill>
                  <a:srgbClr val="FFD778"/>
                </a:solidFill>
              </a:rPr>
              <a:t>Dual-Persona Interface</a:t>
            </a:r>
            <a:endParaRPr/>
          </a:p>
        </p:txBody>
      </p:sp>
      <p:sp>
        <p:nvSpPr>
          <p:cNvPr id="261" name="Google Shape;261;p19"/>
          <p:cNvSpPr txBox="1"/>
          <p:nvPr/>
        </p:nvSpPr>
        <p:spPr>
          <a:xfrm>
            <a:off x="5206869" y="5524361"/>
            <a:ext cx="6273643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Procurement Officer mode with split-screen evidence + MSME Supplier pre-flight self-check mode.</a:t>
            </a:r>
            <a:endParaRPr/>
          </a:p>
        </p:txBody>
      </p:sp>
      <p:cxnSp>
        <p:nvCxnSpPr>
          <p:cNvPr id="262" name="Google Shape;262;p19"/>
          <p:cNvCxnSpPr/>
          <p:nvPr/>
        </p:nvCxnSpPr>
        <p:spPr>
          <a:xfrm>
            <a:off x="711182" y="6032349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ot.png" id="267" name="Google Shape;26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7828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20"/>
          <p:cNvSpPr txBox="1"/>
          <p:nvPr/>
        </p:nvSpPr>
        <p:spPr>
          <a:xfrm>
            <a:off x="711182" y="558786"/>
            <a:ext cx="4444888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3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✱  BFWAI/HACK 26</a:t>
            </a:r>
            <a:endParaRPr/>
          </a:p>
        </p:txBody>
      </p:sp>
      <p:sp>
        <p:nvSpPr>
          <p:cNvPr id="269" name="Google Shape;269;p20"/>
          <p:cNvSpPr txBox="1"/>
          <p:nvPr/>
        </p:nvSpPr>
        <p:spPr>
          <a:xfrm>
            <a:off x="6984825" y="571485"/>
            <a:ext cx="4495687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1100">
                <a:solidFill>
                  <a:srgbClr val="E1E6F0"/>
                </a:solidFill>
                <a:latin typeface="Space Grotesk"/>
                <a:ea typeface="Space Grotesk"/>
                <a:cs typeface="Space Grotesk"/>
                <a:sym typeface="Space Grotesk"/>
              </a:rPr>
              <a:t>06 · Baseline &amp; evaluation</a:t>
            </a:r>
            <a:endParaRPr/>
          </a:p>
        </p:txBody>
      </p:sp>
      <p:cxnSp>
        <p:nvCxnSpPr>
          <p:cNvPr id="270" name="Google Shape;270;p20"/>
          <p:cNvCxnSpPr/>
          <p:nvPr/>
        </p:nvCxnSpPr>
        <p:spPr>
          <a:xfrm>
            <a:off x="711182" y="6286342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71" name="Google Shape;271;p20"/>
          <p:cNvSpPr txBox="1"/>
          <p:nvPr/>
        </p:nvSpPr>
        <p:spPr>
          <a:xfrm>
            <a:off x="711182" y="6413339"/>
            <a:ext cx="5714857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1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buildfastwithai.com/hackathon ↗</a:t>
            </a:r>
            <a:endParaRPr/>
          </a:p>
        </p:txBody>
      </p:sp>
      <p:sp>
        <p:nvSpPr>
          <p:cNvPr id="272" name="Google Shape;272;p20"/>
          <p:cNvSpPr txBox="1"/>
          <p:nvPr/>
        </p:nvSpPr>
        <p:spPr>
          <a:xfrm>
            <a:off x="8254793" y="6426039"/>
            <a:ext cx="3225719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900">
                <a:solidFill>
                  <a:srgbClr val="E1E6F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08 / 10</a:t>
            </a:r>
            <a:endParaRPr/>
          </a:p>
        </p:txBody>
      </p:sp>
      <p:sp>
        <p:nvSpPr>
          <p:cNvPr id="273" name="Google Shape;273;p20"/>
          <p:cNvSpPr txBox="1"/>
          <p:nvPr/>
        </p:nvSpPr>
        <p:spPr>
          <a:xfrm>
            <a:off x="711182" y="1206469"/>
            <a:ext cx="571485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BASELINE &amp; EVALUATION</a:t>
            </a:r>
            <a:endParaRPr/>
          </a:p>
        </p:txBody>
      </p:sp>
      <p:sp>
        <p:nvSpPr>
          <p:cNvPr id="274" name="Google Shape;274;p20"/>
          <p:cNvSpPr txBox="1"/>
          <p:nvPr/>
        </p:nvSpPr>
        <p:spPr>
          <a:xfrm>
            <a:off x="711182" y="1492212"/>
            <a:ext cx="10794730" cy="9524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5000">
                <a:solidFill>
                  <a:srgbClr val="F4EFE6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How we'll </a:t>
            </a:r>
            <a:r>
              <a:rPr b="0" i="1" lang="en-US" sz="5000">
                <a:solidFill>
                  <a:srgbClr val="FFD27A"/>
                </a:solidFill>
                <a:latin typeface="Instrument Serif"/>
                <a:ea typeface="Instrument Serif"/>
                <a:cs typeface="Instrument Serif"/>
                <a:sym typeface="Instrument Serif"/>
              </a:rPr>
              <a:t>prove it works</a:t>
            </a:r>
            <a:endParaRPr/>
          </a:p>
        </p:txBody>
      </p:sp>
      <p:sp>
        <p:nvSpPr>
          <p:cNvPr id="275" name="Google Shape;275;p20"/>
          <p:cNvSpPr/>
          <p:nvPr/>
        </p:nvSpPr>
        <p:spPr>
          <a:xfrm>
            <a:off x="711182" y="2539936"/>
            <a:ext cx="5206869" cy="1714457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0"/>
          <p:cNvSpPr txBox="1"/>
          <p:nvPr/>
        </p:nvSpPr>
        <p:spPr>
          <a:xfrm>
            <a:off x="914377" y="2717732"/>
            <a:ext cx="4825879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TODAY · WITHOUT YOUR SYSTEM</a:t>
            </a:r>
            <a:endParaRPr/>
          </a:p>
        </p:txBody>
      </p:sp>
      <p:sp>
        <p:nvSpPr>
          <p:cNvPr id="277" name="Google Shape;277;p20"/>
          <p:cNvSpPr txBox="1"/>
          <p:nvPr/>
        </p:nvSpPr>
        <p:spPr>
          <a:xfrm>
            <a:off x="914377" y="2984425"/>
            <a:ext cx="4800479" cy="5079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700" b="1">
                <a:solidFill>
                  <a:srgbClr val="FFFFFF"/>
                </a:solidFill>
              </a:defRPr>
            </a:pPr>
            <a:r>
              <a:rPr sz="1700" b="1">
                <a:solidFill>
                  <a:srgbClr val="FFFFFF"/>
                </a:solidFill>
              </a:rPr>
              <a:t>3 to 5 Days (50.0% Accuracy)</a:t>
            </a:r>
            <a:endParaRPr/>
          </a:p>
        </p:txBody>
      </p:sp>
      <p:sp>
        <p:nvSpPr>
          <p:cNvPr id="278" name="Google Shape;278;p20"/>
          <p:cNvSpPr txBox="1"/>
          <p:nvPr/>
        </p:nvSpPr>
        <p:spPr>
          <a:xfrm>
            <a:off x="914377" y="3619409"/>
            <a:ext cx="4800479" cy="571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Manual committee review takes 3–5 days per tender. Naive keyword baselines score only 50.0% accuracy, missing expired certificates, fake GSTINs, and turnover shortfalls.</a:t>
            </a:r>
            <a:endParaRPr/>
          </a:p>
        </p:txBody>
      </p:sp>
      <p:sp>
        <p:nvSpPr>
          <p:cNvPr id="279" name="Google Shape;279;p20"/>
          <p:cNvSpPr/>
          <p:nvPr/>
        </p:nvSpPr>
        <p:spPr>
          <a:xfrm>
            <a:off x="6273643" y="2539936"/>
            <a:ext cx="5206869" cy="1714457"/>
          </a:xfrm>
          <a:prstGeom prst="roundRect">
            <a:avLst>
              <a:gd fmla="val 6000" name="adj"/>
            </a:avLst>
          </a:prstGeom>
          <a:solidFill>
            <a:srgbClr val="2A2110"/>
          </a:solidFill>
          <a:ln cap="flat" cmpd="sng" w="12700">
            <a:solidFill>
              <a:srgbClr val="8A682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0"/>
          <p:cNvSpPr txBox="1"/>
          <p:nvPr/>
        </p:nvSpPr>
        <p:spPr>
          <a:xfrm>
            <a:off x="6476838" y="2717732"/>
            <a:ext cx="4825879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TARGET · WITH YOUR SYSTEM</a:t>
            </a:r>
            <a:endParaRPr/>
          </a:p>
        </p:txBody>
      </p:sp>
      <p:sp>
        <p:nvSpPr>
          <p:cNvPr id="281" name="Google Shape;281;p20"/>
          <p:cNvSpPr txBox="1"/>
          <p:nvPr/>
        </p:nvSpPr>
        <p:spPr>
          <a:xfrm>
            <a:off x="6476838" y="2984425"/>
            <a:ext cx="4800479" cy="5079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700" b="1">
                <a:solidFill>
                  <a:srgbClr val="FFD778"/>
                </a:solidFill>
              </a:defRPr>
            </a:pPr>
            <a:r>
              <a:rPr sz="1700" b="1">
                <a:solidFill>
                  <a:srgbClr val="FFD778"/>
                </a:solidFill>
              </a:rPr>
              <a:t>1.2 Seconds (100.0% Accuracy)</a:t>
            </a:r>
            <a:endParaRPr/>
          </a:p>
        </p:txBody>
      </p:sp>
      <p:sp>
        <p:nvSpPr>
          <p:cNvPr id="282" name="Google Shape;282;p20"/>
          <p:cNvSpPr txBox="1"/>
          <p:nvPr/>
        </p:nvSpPr>
        <p:spPr>
          <a:xfrm>
            <a:off x="6476838" y="3619409"/>
            <a:ext cx="4800479" cy="571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TenderPulse AI cuts review time to 1.2s while achieving 100.0% decision accuracy across all 13 benchmark dossiers (+50.0% gain, zero false positives, 98%+ confidence).</a:t>
            </a:r>
            <a:endParaRPr/>
          </a:p>
        </p:txBody>
      </p:sp>
      <p:sp>
        <p:nvSpPr>
          <p:cNvPr id="283" name="Google Shape;283;p20"/>
          <p:cNvSpPr txBox="1"/>
          <p:nvPr/>
        </p:nvSpPr>
        <p:spPr>
          <a:xfrm>
            <a:off x="5918052" y="3206669"/>
            <a:ext cx="355591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3000">
                <a:solidFill>
                  <a:srgbClr val="F2B632"/>
                </a:solidFill>
                <a:latin typeface="Space Grotesk"/>
                <a:ea typeface="Space Grotesk"/>
                <a:cs typeface="Space Grotesk"/>
                <a:sym typeface="Space Grotesk"/>
              </a:rPr>
              <a:t>→</a:t>
            </a:r>
            <a:endParaRPr/>
          </a:p>
        </p:txBody>
      </p:sp>
      <p:sp>
        <p:nvSpPr>
          <p:cNvPr id="284" name="Google Shape;284;p20"/>
          <p:cNvSpPr/>
          <p:nvPr/>
        </p:nvSpPr>
        <p:spPr>
          <a:xfrm>
            <a:off x="711182" y="4508387"/>
            <a:ext cx="10769330" cy="1460463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0"/>
          <p:cNvSpPr txBox="1"/>
          <p:nvPr/>
        </p:nvSpPr>
        <p:spPr>
          <a:xfrm>
            <a:off x="914377" y="4686182"/>
            <a:ext cx="10362940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HOW YOU'LL EVALUATE IT</a:t>
            </a:r>
            <a:endParaRPr/>
          </a:p>
        </p:txBody>
      </p:sp>
      <p:sp>
        <p:nvSpPr>
          <p:cNvPr id="286" name="Google Shape;286;p20"/>
          <p:cNvSpPr txBox="1"/>
          <p:nvPr/>
        </p:nvSpPr>
        <p:spPr>
          <a:xfrm>
            <a:off x="914377" y="4952876"/>
            <a:ext cx="10362940" cy="8508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Evaluated on 13 diverse bid dossiers: 5 fully compliant passes, 6 failure modes (expired ISO, turnover deficit, invalid GSTIN checksum, EMD shortfall, compound failure), and 2 conditional MSME edge cases.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op.png" id="291" name="Google Shape;29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7828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21"/>
          <p:cNvSpPr txBox="1"/>
          <p:nvPr/>
        </p:nvSpPr>
        <p:spPr>
          <a:xfrm>
            <a:off x="711182" y="558786"/>
            <a:ext cx="4444888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3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✱  BFWAI/HACK 26</a:t>
            </a:r>
            <a:endParaRPr/>
          </a:p>
        </p:txBody>
      </p:sp>
      <p:sp>
        <p:nvSpPr>
          <p:cNvPr id="293" name="Google Shape;293;p21"/>
          <p:cNvSpPr txBox="1"/>
          <p:nvPr/>
        </p:nvSpPr>
        <p:spPr>
          <a:xfrm>
            <a:off x="6984825" y="571485"/>
            <a:ext cx="4495687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1100">
                <a:solidFill>
                  <a:srgbClr val="E1E6F0"/>
                </a:solidFill>
                <a:latin typeface="Space Grotesk"/>
                <a:ea typeface="Space Grotesk"/>
                <a:cs typeface="Space Grotesk"/>
                <a:sym typeface="Space Grotesk"/>
              </a:rPr>
              <a:t>07 · Team</a:t>
            </a:r>
            <a:endParaRPr/>
          </a:p>
        </p:txBody>
      </p:sp>
      <p:cxnSp>
        <p:nvCxnSpPr>
          <p:cNvPr id="294" name="Google Shape;294;p21"/>
          <p:cNvCxnSpPr/>
          <p:nvPr/>
        </p:nvCxnSpPr>
        <p:spPr>
          <a:xfrm>
            <a:off x="711182" y="6286342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95" name="Google Shape;295;p21"/>
          <p:cNvSpPr txBox="1"/>
          <p:nvPr/>
        </p:nvSpPr>
        <p:spPr>
          <a:xfrm>
            <a:off x="711182" y="6413339"/>
            <a:ext cx="5714857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1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buildfastwithai.com/hackathon ↗</a:t>
            </a:r>
            <a:endParaRPr/>
          </a:p>
        </p:txBody>
      </p:sp>
      <p:sp>
        <p:nvSpPr>
          <p:cNvPr id="296" name="Google Shape;296;p21"/>
          <p:cNvSpPr txBox="1"/>
          <p:nvPr/>
        </p:nvSpPr>
        <p:spPr>
          <a:xfrm>
            <a:off x="8254793" y="6426039"/>
            <a:ext cx="3225719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900">
                <a:solidFill>
                  <a:srgbClr val="E1E6F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 / 10</a:t>
            </a:r>
            <a:endParaRPr/>
          </a:p>
        </p:txBody>
      </p:sp>
      <p:sp>
        <p:nvSpPr>
          <p:cNvPr id="297" name="Google Shape;297;p21"/>
          <p:cNvSpPr txBox="1"/>
          <p:nvPr/>
        </p:nvSpPr>
        <p:spPr>
          <a:xfrm>
            <a:off x="711182" y="1206469"/>
            <a:ext cx="571485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950">
                <a:solidFill>
                  <a:srgbClr val="F2B632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TEAM</a:t>
            </a:r>
            <a:endParaRPr/>
          </a:p>
        </p:txBody>
      </p:sp>
      <p:sp>
        <p:nvSpPr>
          <p:cNvPr id="298" name="Google Shape;298;p21"/>
          <p:cNvSpPr txBox="1"/>
          <p:nvPr/>
        </p:nvSpPr>
        <p:spPr>
          <a:xfrm>
            <a:off x="711182" y="1492212"/>
            <a:ext cx="10794730" cy="9524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FFFFFF"/>
                </a:solidFill>
              </a:defRPr>
            </a:pPr>
            <a:r>
              <a:rPr sz="2800" b="1">
                <a:solidFill>
                  <a:srgbClr val="FFFFFF"/>
                </a:solidFill>
              </a:rPr>
              <a:t>TeAm AsPirE</a:t>
            </a:r>
            <a:endParaRPr/>
          </a:p>
        </p:txBody>
      </p:sp>
      <p:sp>
        <p:nvSpPr>
          <p:cNvPr id="299" name="Google Shape;299;p21"/>
          <p:cNvSpPr/>
          <p:nvPr/>
        </p:nvSpPr>
        <p:spPr>
          <a:xfrm>
            <a:off x="3259836" y="2633472"/>
            <a:ext cx="5669280" cy="3291840"/>
          </a:xfrm>
          <a:prstGeom prst="roundRect">
            <a:avLst>
              <a:gd fmla="val 6000" name="adj"/>
            </a:avLst>
          </a:prstGeom>
          <a:solidFill>
            <a:srgbClr val="17130E"/>
          </a:solidFill>
          <a:ln cap="flat" cmpd="sng" w="12700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1"/>
          <p:cNvSpPr txBox="1"/>
          <p:nvPr/>
        </p:nvSpPr>
        <p:spPr>
          <a:xfrm>
            <a:off x="3579876" y="2862072"/>
            <a:ext cx="5029200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F5B937"/>
                </a:solidFill>
              </a:defRPr>
            </a:pPr>
            <a:r>
              <a:rPr sz="1100" b="1">
                <a:solidFill>
                  <a:srgbClr val="F5B937"/>
                </a:solidFill>
              </a:rPr>
              <a:t>TEAM LEAD &amp; SOLE DEVELOPER</a:t>
            </a:r>
            <a:endParaRPr/>
          </a:p>
        </p:txBody>
      </p:sp>
      <p:sp>
        <p:nvSpPr>
          <p:cNvPr id="301" name="Google Shape;301;p21"/>
          <p:cNvSpPr txBox="1"/>
          <p:nvPr/>
        </p:nvSpPr>
        <p:spPr>
          <a:xfrm>
            <a:off x="3579876" y="3136392"/>
            <a:ext cx="5029200" cy="444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FFD778"/>
                </a:solidFill>
              </a:defRPr>
            </a:pPr>
            <a:r>
              <a:rPr sz="2400" b="1">
                <a:solidFill>
                  <a:srgbClr val="FFD778"/>
                </a:solidFill>
              </a:rPr>
              <a:t>Darshan S</a:t>
            </a:r>
            <a:endParaRPr/>
          </a:p>
        </p:txBody>
      </p:sp>
      <p:sp>
        <p:nvSpPr>
          <p:cNvPr id="302" name="Google Shape;302;p21"/>
          <p:cNvSpPr txBox="1"/>
          <p:nvPr/>
        </p:nvSpPr>
        <p:spPr>
          <a:xfrm>
            <a:off x="3579876" y="3822192"/>
            <a:ext cx="1005840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F5B937"/>
                </a:solidFill>
              </a:defRPr>
            </a:pPr>
            <a:r>
              <a:rPr sz="1100" b="1">
                <a:solidFill>
                  <a:srgbClr val="F5B937"/>
                </a:solidFill>
              </a:rPr>
              <a:t>COLLEGE</a:t>
            </a:r>
            <a:endParaRPr/>
          </a:p>
        </p:txBody>
      </p:sp>
      <p:sp>
        <p:nvSpPr>
          <p:cNvPr id="303" name="Google Shape;303;p21"/>
          <p:cNvSpPr txBox="1"/>
          <p:nvPr/>
        </p:nvSpPr>
        <p:spPr>
          <a:xfrm>
            <a:off x="4631436" y="3794760"/>
            <a:ext cx="3977640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Engineering &amp; Technology</a:t>
            </a:r>
            <a:endParaRPr/>
          </a:p>
        </p:txBody>
      </p:sp>
      <p:sp>
        <p:nvSpPr>
          <p:cNvPr id="304" name="Google Shape;304;p21"/>
          <p:cNvSpPr txBox="1"/>
          <p:nvPr/>
        </p:nvSpPr>
        <p:spPr>
          <a:xfrm>
            <a:off x="3579876" y="4279392"/>
            <a:ext cx="1005840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F5B937"/>
                </a:solidFill>
              </a:defRPr>
            </a:pPr>
            <a:r>
              <a:rPr sz="1100" b="1">
                <a:solidFill>
                  <a:srgbClr val="F5B937"/>
                </a:solidFill>
              </a:rPr>
              <a:t>YEAR</a:t>
            </a:r>
            <a:endParaRPr/>
          </a:p>
        </p:txBody>
      </p:sp>
      <p:sp>
        <p:nvSpPr>
          <p:cNvPr id="305" name="Google Shape;305;p21"/>
          <p:cNvSpPr txBox="1"/>
          <p:nvPr/>
        </p:nvSpPr>
        <p:spPr>
          <a:xfrm>
            <a:off x="4631436" y="4251960"/>
            <a:ext cx="3977640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Final Year (4th Year B.E.)</a:t>
            </a:r>
            <a:endParaRPr/>
          </a:p>
        </p:txBody>
      </p:sp>
      <p:sp>
        <p:nvSpPr>
          <p:cNvPr id="306" name="Google Shape;306;p21"/>
          <p:cNvSpPr txBox="1"/>
          <p:nvPr/>
        </p:nvSpPr>
        <p:spPr>
          <a:xfrm>
            <a:off x="3579876" y="4736592"/>
            <a:ext cx="1005840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F5B937"/>
                </a:solidFill>
              </a:defRPr>
            </a:pPr>
            <a:r>
              <a:rPr sz="1100" b="1">
                <a:solidFill>
                  <a:srgbClr val="F5B937"/>
                </a:solidFill>
              </a:rPr>
              <a:t>ROLE</a:t>
            </a:r>
            <a:endParaRPr/>
          </a:p>
        </p:txBody>
      </p:sp>
      <p:sp>
        <p:nvSpPr>
          <p:cNvPr id="307" name="Google Shape;307;p21"/>
          <p:cNvSpPr txBox="1"/>
          <p:nvPr/>
        </p:nvSpPr>
        <p:spPr>
          <a:xfrm>
            <a:off x="4631436" y="4709160"/>
            <a:ext cx="3977640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8FAFC"/>
                </a:solidFill>
              </a:defRPr>
            </a:pPr>
            <a:r>
              <a:rPr sz="1200">
                <a:solidFill>
                  <a:srgbClr val="F8FAFC"/>
                </a:solidFill>
              </a:rPr>
              <a:t>Full-Stack AI Architecture, Solvers &amp; Dashboard</a:t>
            </a:r>
            <a:endParaRPr/>
          </a:p>
        </p:txBody>
      </p:sp>
      <p:sp>
        <p:nvSpPr>
          <p:cNvPr id="308" name="Google Shape;308;p21"/>
          <p:cNvSpPr txBox="1"/>
          <p:nvPr/>
        </p:nvSpPr>
        <p:spPr>
          <a:xfrm>
            <a:off x="3579876" y="5193792"/>
            <a:ext cx="1005840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rgbClr val="F5B937"/>
                </a:solidFill>
              </a:defRPr>
            </a:pPr>
            <a:r>
              <a:rPr sz="1100" b="1">
                <a:solidFill>
                  <a:srgbClr val="F5B937"/>
                </a:solidFill>
              </a:rPr>
              <a:t>GITHUB</a:t>
            </a:r>
            <a:endParaRPr/>
          </a:p>
        </p:txBody>
      </p:sp>
      <p:sp>
        <p:nvSpPr>
          <p:cNvPr id="309" name="Google Shape;309;p21"/>
          <p:cNvSpPr txBox="1"/>
          <p:nvPr/>
        </p:nvSpPr>
        <p:spPr>
          <a:xfrm>
            <a:off x="4631436" y="5166360"/>
            <a:ext cx="3977640" cy="380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D778"/>
                </a:solidFill>
              </a:defRPr>
            </a:pPr>
            <a:r>
              <a:rPr sz="1200">
                <a:solidFill>
                  <a:srgbClr val="FFD778"/>
                </a:solidFill>
              </a:rPr>
              <a:t>https://github.com/darshan-s-44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ot.png" id="336" name="Google Shape;33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7828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22"/>
          <p:cNvSpPr txBox="1"/>
          <p:nvPr/>
        </p:nvSpPr>
        <p:spPr>
          <a:xfrm>
            <a:off x="711182" y="558786"/>
            <a:ext cx="4444888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3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✱  BFWAI/HACK 26</a:t>
            </a:r>
            <a:endParaRPr/>
          </a:p>
        </p:txBody>
      </p:sp>
      <p:sp>
        <p:nvSpPr>
          <p:cNvPr id="338" name="Google Shape;338;p22"/>
          <p:cNvSpPr txBox="1"/>
          <p:nvPr/>
        </p:nvSpPr>
        <p:spPr>
          <a:xfrm>
            <a:off x="6984825" y="571485"/>
            <a:ext cx="4495687" cy="253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1100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Thank you</a:t>
            </a:r>
            <a:endParaRPr/>
          </a:p>
        </p:txBody>
      </p:sp>
      <p:cxnSp>
        <p:nvCxnSpPr>
          <p:cNvPr id="339" name="Google Shape;339;p22"/>
          <p:cNvCxnSpPr/>
          <p:nvPr/>
        </p:nvCxnSpPr>
        <p:spPr>
          <a:xfrm>
            <a:off x="711182" y="6286342"/>
            <a:ext cx="10769330" cy="0"/>
          </a:xfrm>
          <a:prstGeom prst="straightConnector1">
            <a:avLst/>
          </a:prstGeom>
          <a:noFill/>
          <a:ln cap="flat" cmpd="sng" w="9525">
            <a:solidFill>
              <a:srgbClr val="332D2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40" name="Google Shape;340;p22"/>
          <p:cNvSpPr txBox="1"/>
          <p:nvPr/>
        </p:nvSpPr>
        <p:spPr>
          <a:xfrm>
            <a:off x="711182" y="6413339"/>
            <a:ext cx="5714857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1" i="0" lang="en-US" sz="1100">
                <a:solidFill>
                  <a:srgbClr val="F4EFE6"/>
                </a:solidFill>
                <a:latin typeface="Space Grotesk"/>
                <a:ea typeface="Space Grotesk"/>
                <a:cs typeface="Space Grotesk"/>
                <a:sym typeface="Space Grotesk"/>
              </a:rPr>
              <a:t>buildfastwithai.com/hackathon ↗</a:t>
            </a:r>
            <a:endParaRPr/>
          </a:p>
        </p:txBody>
      </p:sp>
      <p:sp>
        <p:nvSpPr>
          <p:cNvPr id="341" name="Google Shape;341;p22"/>
          <p:cNvSpPr txBox="1"/>
          <p:nvPr/>
        </p:nvSpPr>
        <p:spPr>
          <a:xfrm>
            <a:off x="8254793" y="6426039"/>
            <a:ext cx="3225719" cy="2285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>
                <a:solidFill/>
              </a:defRPr>
            </a:pPr>
            <a:r>
              <a:rPr b="0" i="0" lang="en-US" sz="900">
                <a:solidFill>
                  <a:srgbClr val="E1E6F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 / 10</a:t>
            </a:r>
            <a:endParaRPr/>
          </a:p>
        </p:txBody>
      </p:sp>
      <p:sp>
        <p:nvSpPr>
          <p:cNvPr id="342" name="Google Shape;342;p22"/>
          <p:cNvSpPr txBox="1"/>
          <p:nvPr/>
        </p:nvSpPr>
        <p:spPr>
          <a:xfrm>
            <a:off x="711182" y="2984425"/>
            <a:ext cx="571485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F5B937"/>
                </a:solidFill>
              </a:defRPr>
            </a:pPr>
            <a:r>
              <a:rPr sz="1400" b="1">
                <a:solidFill>
                  <a:srgbClr val="F5B937"/>
                </a:solidFill>
              </a:rPr>
              <a:t>TeAm AsPirE · PS-04 (AI Decision Engine for Business Data)</a:t>
            </a:r>
            <a:endParaRPr/>
          </a:p>
        </p:txBody>
      </p:sp>
      <p:sp>
        <p:nvSpPr>
          <p:cNvPr id="343" name="Google Shape;343;p22"/>
          <p:cNvSpPr txBox="1"/>
          <p:nvPr/>
        </p:nvSpPr>
        <p:spPr>
          <a:xfrm>
            <a:off x="711182" y="3238419"/>
            <a:ext cx="10159746" cy="13969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Thank you.</a:t>
            </a:r>
            <a:endParaRPr/>
          </a:p>
          <a:p>
            <a:pPr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TenderPulse AI</a:t>
            </a:r>
          </a:p>
        </p:txBody>
      </p:sp>
      <p:sp>
        <p:nvSpPr>
          <p:cNvPr id="344" name="Google Shape;344;p22"/>
          <p:cNvSpPr txBox="1"/>
          <p:nvPr/>
        </p:nvSpPr>
        <p:spPr>
          <a:xfrm>
            <a:off x="711182" y="5079873"/>
            <a:ext cx="5714857" cy="1904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rgbClr val="F5B937"/>
                </a:solidFill>
              </a:defRPr>
            </a:pPr>
            <a:r>
              <a:rPr sz="1200" b="1">
                <a:solidFill>
                  <a:srgbClr val="F5B937"/>
                </a:solidFill>
              </a:rPr>
              <a:t>PROJECT DELIVERABLES &amp; LIVE DEPLOYMENT</a:t>
            </a:r>
            <a:endParaRPr/>
          </a:p>
        </p:txBody>
      </p:sp>
      <p:sp>
        <p:nvSpPr>
          <p:cNvPr id="345" name="Google Shape;345;p22"/>
          <p:cNvSpPr txBox="1"/>
          <p:nvPr/>
        </p:nvSpPr>
        <p:spPr>
          <a:xfrm>
            <a:off x="711182" y="5333866"/>
            <a:ext cx="8889777" cy="3174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FFD778"/>
                </a:solidFill>
              </a:defRPr>
            </a:pPr>
            <a:r>
              <a:rPr sz="1400">
                <a:solidFill>
                  <a:srgbClr val="FFD778"/>
                </a:solidFill>
              </a:rPr>
              <a:t>Live App: https://ai-build-hackathon.onrender.com/  |  Repo: https://github.com/darshan-s-44/AI_build_hackathon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