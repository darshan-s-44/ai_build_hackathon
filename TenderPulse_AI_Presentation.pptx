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</p:sldIdLst>
  <p:sldSz cy="6857825" cx="12191675"/>
  <p:notesSz cx="6858000" cy="9144000"/>
  <p:embeddedFontLst>
    <p:embeddedFont>
      <p:font typeface="Instrument Serif"/>
      <p:regular r:id="rId16"/>
      <p:italic r:id="rId17"/>
    </p:embeddedFont>
    <p:embeddedFont>
      <p:font typeface="JetBrains Mono"/>
      <p:regular r:id="rId18"/>
      <p:bold r:id="rId19"/>
      <p:italic r:id="rId20"/>
      <p:boldItalic r:id="rId21"/>
    </p:embeddedFont>
    <p:embeddedFont>
      <p:font typeface="Space Grotesk"/>
      <p:regular r:id="rId22"/>
      <p:bold r:id="rId23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font" Target="fonts/InstrumentSerif-regular.fntdata"/><Relationship Id="rId17" Type="http://schemas.openxmlformats.org/officeDocument/2006/relationships/font" Target="fonts/InstrumentSerif-italic.fntdata"/><Relationship Id="rId18" Type="http://schemas.openxmlformats.org/officeDocument/2006/relationships/font" Target="fonts/JetBrainsMono-regular.fntdata"/><Relationship Id="rId19" Type="http://schemas.openxmlformats.org/officeDocument/2006/relationships/font" Target="fonts/JetBrainsMono-bold.fntdata"/><Relationship Id="rId20" Type="http://schemas.openxmlformats.org/officeDocument/2006/relationships/font" Target="fonts/JetBrainsMono-italic.fntdata"/><Relationship Id="rId21" Type="http://schemas.openxmlformats.org/officeDocument/2006/relationships/font" Target="fonts/JetBrainsMono-boldItalic.fntdata"/><Relationship Id="rId22" Type="http://schemas.openxmlformats.org/officeDocument/2006/relationships/font" Target="fonts/SpaceGrotesk-regular.fntdata"/><Relationship Id="rId23" Type="http://schemas.openxmlformats.org/officeDocument/2006/relationships/font" Target="fonts/SpaceGrotesk-bold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" name="Google Shape;82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1" name="Google Shape;101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7" name="Google Shape;187;p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6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8" name="Google Shape;208;p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2" name="Shape 3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3" name="Google Shape;333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4" name="Google Shape;334;p1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3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5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6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6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7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7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7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7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9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9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0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1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1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1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2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1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1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5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Relationship Id="rId4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ot.png" id="84" name="Google Shape;84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1695" cy="6857828"/>
          </a:xfrm>
          <a:prstGeom prst="rect">
            <a:avLst/>
          </a:prstGeom>
          <a:noFill/>
          <a:ln>
            <a:noFill/>
          </a:ln>
        </p:spPr>
      </p:pic>
      <p:sp>
        <p:nvSpPr>
          <p:cNvPr id="85" name="Google Shape;85;p13"/>
          <p:cNvSpPr txBox="1"/>
          <p:nvPr/>
        </p:nvSpPr>
        <p:spPr>
          <a:xfrm>
            <a:off x="711182" y="558786"/>
            <a:ext cx="4444888" cy="25399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  <a:defRPr>
                <a:solidFill/>
              </a:defRPr>
            </a:pPr>
            <a:r>
              <a:rPr b="1" i="0" lang="en-US" sz="1300" u="none" cap="none" strike="noStrike">
                <a:solidFill>
                  <a:srgbClr val="F4EFE6"/>
                </a:solidFill>
                <a:latin typeface="Space Grotesk"/>
                <a:ea typeface="Space Grotesk"/>
                <a:cs typeface="Space Grotesk"/>
                <a:sym typeface="Space Grotesk"/>
              </a:rPr>
              <a:t>✱  BFWAI/HACK 26</a:t>
            </a:r>
            <a:endParaRPr/>
          </a:p>
        </p:txBody>
      </p:sp>
      <p:sp>
        <p:nvSpPr>
          <p:cNvPr id="86" name="Google Shape;86;p13"/>
          <p:cNvSpPr txBox="1"/>
          <p:nvPr/>
        </p:nvSpPr>
        <p:spPr>
          <a:xfrm>
            <a:off x="6984825" y="571485"/>
            <a:ext cx="4495687" cy="25399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  <a:defRPr>
                <a:solidFill/>
              </a:defRPr>
            </a:pPr>
            <a:r>
              <a:rPr b="0" i="0" lang="en-US" sz="1100" u="none" cap="none" strike="noStrike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Idea submission</a:t>
            </a:r>
            <a:endParaRPr/>
          </a:p>
        </p:txBody>
      </p:sp>
      <p:cxnSp>
        <p:nvCxnSpPr>
          <p:cNvPr id="87" name="Google Shape;87;p13"/>
          <p:cNvCxnSpPr/>
          <p:nvPr/>
        </p:nvCxnSpPr>
        <p:spPr>
          <a:xfrm>
            <a:off x="711182" y="6286342"/>
            <a:ext cx="10769330" cy="0"/>
          </a:xfrm>
          <a:prstGeom prst="straightConnector1">
            <a:avLst/>
          </a:prstGeom>
          <a:noFill/>
          <a:ln cap="flat" cmpd="sng" w="9525">
            <a:solidFill>
              <a:srgbClr val="332D25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sp>
        <p:nvSpPr>
          <p:cNvPr id="88" name="Google Shape;88;p13"/>
          <p:cNvSpPr txBox="1"/>
          <p:nvPr/>
        </p:nvSpPr>
        <p:spPr>
          <a:xfrm>
            <a:off x="711182" y="6413339"/>
            <a:ext cx="5714857" cy="22859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  <a:defRPr>
                <a:solidFill/>
              </a:defRPr>
            </a:pPr>
            <a:r>
              <a:rPr b="1" i="0" lang="en-US" sz="1100" u="none" cap="none" strike="noStrike">
                <a:solidFill>
                  <a:srgbClr val="F4EFE6"/>
                </a:solidFill>
                <a:latin typeface="Space Grotesk"/>
                <a:ea typeface="Space Grotesk"/>
                <a:cs typeface="Space Grotesk"/>
                <a:sym typeface="Space Grotesk"/>
              </a:rPr>
              <a:t>buildfastwithai.com/hackathon ↗</a:t>
            </a:r>
            <a:endParaRPr/>
          </a:p>
        </p:txBody>
      </p:sp>
      <p:sp>
        <p:nvSpPr>
          <p:cNvPr id="89" name="Google Shape;89;p13"/>
          <p:cNvSpPr txBox="1"/>
          <p:nvPr/>
        </p:nvSpPr>
        <p:spPr>
          <a:xfrm>
            <a:off x="8254793" y="6426039"/>
            <a:ext cx="3225719" cy="22859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  <a:defRPr>
                <a:solidFill/>
              </a:defRPr>
            </a:pPr>
            <a:r>
              <a:rPr b="0" i="0" lang="en-US" sz="900" u="none" cap="none" strike="noStrike">
                <a:solidFill>
                  <a:srgbClr val="E1E6F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01 / 10</a:t>
            </a:r>
            <a:endParaRPr/>
          </a:p>
        </p:txBody>
      </p:sp>
      <p:sp>
        <p:nvSpPr>
          <p:cNvPr id="90" name="Google Shape;90;p13"/>
          <p:cNvSpPr txBox="1"/>
          <p:nvPr/>
        </p:nvSpPr>
        <p:spPr>
          <a:xfrm>
            <a:off x="711182" y="1904952"/>
            <a:ext cx="5714857" cy="19049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  <a:defRPr>
                <a:solidFill/>
              </a:defRPr>
            </a:pPr>
            <a:r>
              <a:rPr b="1" i="0" lang="en-US" sz="950" u="none" cap="none" strike="noStrike">
                <a:solidFill>
                  <a:srgbClr val="F2B632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AI BUILD CHALLENGE 2026 · IDEA DECK</a:t>
            </a:r>
            <a:endParaRPr/>
          </a:p>
        </p:txBody>
      </p:sp>
      <p:sp>
        <p:nvSpPr>
          <p:cNvPr id="91" name="Google Shape;91;p13"/>
          <p:cNvSpPr txBox="1"/>
          <p:nvPr/>
        </p:nvSpPr>
        <p:spPr>
          <a:xfrm>
            <a:off x="711182" y="2222444"/>
            <a:ext cx="9524761" cy="165095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4400" b="1">
                <a:solidFill>
                  <a:srgbClr val="FFFFFF"/>
                </a:solidFill>
              </a:defRPr>
            </a:pPr>
            <a:r>
              <a:rPr sz="4400" b="1">
                <a:solidFill>
                  <a:srgbClr val="FFFFFF"/>
                </a:solidFill>
              </a:rPr>
              <a:t>TenderPulse AI</a:t>
            </a:r>
            <a:endParaRPr/>
          </a:p>
        </p:txBody>
      </p:sp>
      <p:sp>
        <p:nvSpPr>
          <p:cNvPr id="92" name="Google Shape;92;p13"/>
          <p:cNvSpPr txBox="1"/>
          <p:nvPr/>
        </p:nvSpPr>
        <p:spPr>
          <a:xfrm>
            <a:off x="711182" y="3555911"/>
            <a:ext cx="8889777" cy="7619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FFD778"/>
                </a:solidFill>
              </a:defRPr>
            </a:pPr>
            <a:r>
              <a:rPr sz="1900" b="0">
                <a:solidFill>
                  <a:srgbClr val="FFD778"/>
                </a:solidFill>
              </a:rPr>
              <a:t>Autonomous Technical Bid Compliance Verification &amp; Procurement Decision Engine for CPCL / MoPNG</a:t>
            </a:r>
            <a:endParaRPr/>
          </a:p>
        </p:txBody>
      </p:sp>
      <p:sp>
        <p:nvSpPr>
          <p:cNvPr id="93" name="Google Shape;93;p13"/>
          <p:cNvSpPr txBox="1"/>
          <p:nvPr/>
        </p:nvSpPr>
        <p:spPr>
          <a:xfrm>
            <a:off x="711182" y="5016374"/>
            <a:ext cx="3301917" cy="19049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  <a:defRPr>
                <a:solidFill/>
              </a:defRPr>
            </a:pPr>
            <a:r>
              <a:rPr b="1" i="0" lang="en-US" sz="950" u="none" cap="none" strike="noStrike">
                <a:solidFill>
                  <a:srgbClr val="F5B937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TEAM</a:t>
            </a:r>
            <a:endParaRPr/>
          </a:p>
        </p:txBody>
      </p:sp>
      <p:sp>
        <p:nvSpPr>
          <p:cNvPr id="94" name="Google Shape;94;p13"/>
          <p:cNvSpPr txBox="1"/>
          <p:nvPr/>
        </p:nvSpPr>
        <p:spPr>
          <a:xfrm>
            <a:off x="711182" y="5270368"/>
            <a:ext cx="3428914" cy="3809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  <a:defRPr sz="1700" b="1">
                <a:solidFill>
                  <a:srgbClr val="FFFFFF"/>
                </a:solidFill>
              </a:defRPr>
            </a:pPr>
            <a:r>
              <a:rPr sz="1700" b="1">
                <a:solidFill>
                  <a:srgbClr val="FFFFFF"/>
                </a:solidFill>
              </a:rPr>
              <a:t>TeAm AsPirE</a:t>
            </a:r>
            <a:endParaRPr/>
          </a:p>
        </p:txBody>
      </p:sp>
      <p:sp>
        <p:nvSpPr>
          <p:cNvPr id="95" name="Google Shape;95;p13"/>
          <p:cNvSpPr txBox="1"/>
          <p:nvPr/>
        </p:nvSpPr>
        <p:spPr>
          <a:xfrm>
            <a:off x="4330591" y="5016374"/>
            <a:ext cx="3301917" cy="19049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  <a:defRPr>
                <a:solidFill/>
              </a:defRPr>
            </a:pPr>
            <a:r>
              <a:rPr b="1" i="0" lang="en-US" sz="950" u="none" cap="none" strike="noStrike">
                <a:solidFill>
                  <a:srgbClr val="F5B937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PROBLEM STATEMENT</a:t>
            </a:r>
            <a:endParaRPr/>
          </a:p>
        </p:txBody>
      </p:sp>
      <p:sp>
        <p:nvSpPr>
          <p:cNvPr id="96" name="Google Shape;96;p13"/>
          <p:cNvSpPr txBox="1"/>
          <p:nvPr/>
        </p:nvSpPr>
        <p:spPr>
          <a:xfrm>
            <a:off x="4330591" y="5270368"/>
            <a:ext cx="3428914" cy="3809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  <a:defRPr sz="1700" b="1">
                <a:solidFill>
                  <a:srgbClr val="FFFFFF"/>
                </a:solidFill>
              </a:defRPr>
            </a:pPr>
            <a:r>
              <a:rPr sz="1700" b="1">
                <a:solidFill>
                  <a:srgbClr val="FFFFFF"/>
                </a:solidFill>
              </a:rPr>
              <a:t>PS-04 · AI Decision Engine for Business Data</a:t>
            </a:r>
            <a:endParaRPr/>
          </a:p>
        </p:txBody>
      </p:sp>
      <p:sp>
        <p:nvSpPr>
          <p:cNvPr id="97" name="Google Shape;97;p13"/>
          <p:cNvSpPr txBox="1"/>
          <p:nvPr/>
        </p:nvSpPr>
        <p:spPr>
          <a:xfrm>
            <a:off x="7950001" y="5016374"/>
            <a:ext cx="3301917" cy="19049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  <a:defRPr>
                <a:solidFill/>
              </a:defRPr>
            </a:pPr>
            <a:r>
              <a:rPr b="1" i="0" lang="en-US" sz="950" u="none" cap="none" strike="noStrike">
                <a:solidFill>
                  <a:srgbClr val="F5B937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MEMBERS</a:t>
            </a:r>
            <a:endParaRPr/>
          </a:p>
        </p:txBody>
      </p:sp>
      <p:sp>
        <p:nvSpPr>
          <p:cNvPr id="98" name="Google Shape;98;p13"/>
          <p:cNvSpPr txBox="1"/>
          <p:nvPr/>
        </p:nvSpPr>
        <p:spPr>
          <a:xfrm>
            <a:off x="7950001" y="5270368"/>
            <a:ext cx="3428914" cy="3809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  <a:defRPr sz="1700" b="1">
                <a:solidFill>
                  <a:srgbClr val="FFFFFF"/>
                </a:solidFill>
              </a:defRPr>
            </a:pPr>
            <a:r>
              <a:rPr sz="1700" b="1">
                <a:solidFill>
                  <a:srgbClr val="FFFFFF"/>
                </a:solidFill>
              </a:rPr>
              <a:t>Darshan S (Team Lead)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left.png" id="103" name="Google Shape;103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1695" cy="6857828"/>
          </a:xfrm>
          <a:prstGeom prst="rect">
            <a:avLst/>
          </a:prstGeom>
          <a:noFill/>
          <a:ln>
            <a:noFill/>
          </a:ln>
        </p:spPr>
      </p:pic>
      <p:sp>
        <p:nvSpPr>
          <p:cNvPr id="104" name="Google Shape;104;p14"/>
          <p:cNvSpPr txBox="1"/>
          <p:nvPr/>
        </p:nvSpPr>
        <p:spPr>
          <a:xfrm>
            <a:off x="711182" y="558786"/>
            <a:ext cx="4444888" cy="25399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  <a:defRPr>
                <a:solidFill/>
              </a:defRPr>
            </a:pPr>
            <a:r>
              <a:rPr b="1" i="0" lang="en-US" sz="1300" u="none" cap="none" strike="noStrike">
                <a:solidFill>
                  <a:srgbClr val="F4EFE6"/>
                </a:solidFill>
                <a:latin typeface="Space Grotesk"/>
                <a:ea typeface="Space Grotesk"/>
                <a:cs typeface="Space Grotesk"/>
                <a:sym typeface="Space Grotesk"/>
              </a:rPr>
              <a:t>✱  BFWAI/HACK 26</a:t>
            </a:r>
            <a:endParaRPr/>
          </a:p>
        </p:txBody>
      </p:sp>
      <p:sp>
        <p:nvSpPr>
          <p:cNvPr id="105" name="Google Shape;105;p14"/>
          <p:cNvSpPr txBox="1"/>
          <p:nvPr/>
        </p:nvSpPr>
        <p:spPr>
          <a:xfrm>
            <a:off x="6984825" y="571485"/>
            <a:ext cx="4495687" cy="25399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  <a:defRPr sz="1300">
                <a:solidFill>
                  <a:srgbClr val="E1E6F0"/>
                </a:solidFill>
              </a:defRPr>
            </a:pPr>
            <a:r>
              <a:rPr sz="1300">
                <a:solidFill>
                  <a:srgbClr val="E1E6F0"/>
                </a:solidFill>
              </a:rPr>
              <a:t>02 · Architecture</a:t>
            </a:r>
            <a:endParaRPr/>
          </a:p>
        </p:txBody>
      </p:sp>
      <p:cxnSp>
        <p:nvCxnSpPr>
          <p:cNvPr id="106" name="Google Shape;106;p14"/>
          <p:cNvCxnSpPr/>
          <p:nvPr/>
        </p:nvCxnSpPr>
        <p:spPr>
          <a:xfrm>
            <a:off x="711182" y="6286342"/>
            <a:ext cx="10769330" cy="0"/>
          </a:xfrm>
          <a:prstGeom prst="straightConnector1">
            <a:avLst/>
          </a:prstGeom>
          <a:noFill/>
          <a:ln cap="flat" cmpd="sng" w="9525">
            <a:solidFill>
              <a:srgbClr val="332D25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sp>
        <p:nvSpPr>
          <p:cNvPr id="107" name="Google Shape;107;p14"/>
          <p:cNvSpPr txBox="1"/>
          <p:nvPr/>
        </p:nvSpPr>
        <p:spPr>
          <a:xfrm>
            <a:off x="711182" y="6413339"/>
            <a:ext cx="5714857" cy="22859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  <a:defRPr>
                <a:solidFill/>
              </a:defRPr>
            </a:pPr>
            <a:r>
              <a:rPr b="1" i="0" lang="en-US" sz="1100" u="none" cap="none" strike="noStrike">
                <a:solidFill>
                  <a:srgbClr val="F4EFE6"/>
                </a:solidFill>
                <a:latin typeface="Space Grotesk"/>
                <a:ea typeface="Space Grotesk"/>
                <a:cs typeface="Space Grotesk"/>
                <a:sym typeface="Space Grotesk"/>
              </a:rPr>
              <a:t>buildfastwithai.com/hackathon ↗</a:t>
            </a:r>
            <a:endParaRPr/>
          </a:p>
        </p:txBody>
      </p:sp>
      <p:sp>
        <p:nvSpPr>
          <p:cNvPr id="108" name="Google Shape;108;p14"/>
          <p:cNvSpPr txBox="1"/>
          <p:nvPr/>
        </p:nvSpPr>
        <p:spPr>
          <a:xfrm>
            <a:off x="8254793" y="6426039"/>
            <a:ext cx="3225719" cy="22859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  <a:defRPr>
                <a:solidFill/>
              </a:defRPr>
            </a:pPr>
            <a:r>
              <a:rPr b="0" i="0" lang="en-US" sz="900" u="none" cap="none" strike="noStrike">
                <a:solidFill>
                  <a:srgbClr val="E1E6F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02 / 10</a:t>
            </a:r>
            <a:endParaRPr/>
          </a:p>
        </p:txBody>
      </p:sp>
      <p:sp>
        <p:nvSpPr>
          <p:cNvPr id="109" name="Google Shape;109;p14"/>
          <p:cNvSpPr/>
          <p:nvPr/>
        </p:nvSpPr>
        <p:spPr>
          <a:xfrm>
            <a:off x="9207269" y="1079473"/>
            <a:ext cx="2273243" cy="330191"/>
          </a:xfrm>
          <a:prstGeom prst="roundRect">
            <a:avLst>
              <a:gd fmla="val 50000" name="adj"/>
            </a:avLst>
          </a:prstGeom>
          <a:solidFill>
            <a:srgbClr val="F2B632"/>
          </a:solidFill>
          <a:ln cap="flat" cmpd="sng" w="12700">
            <a:solidFill>
              <a:srgbClr val="F2B63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0" name="Google Shape;110;p14"/>
          <p:cNvSpPr txBox="1"/>
          <p:nvPr/>
        </p:nvSpPr>
        <p:spPr>
          <a:xfrm>
            <a:off x="9207269" y="1079473"/>
            <a:ext cx="2273243" cy="33019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  <a:defRPr sz="1100" b="1">
                <a:solidFill>
                  <a:srgbClr val="141414"/>
                </a:solidFill>
              </a:defRPr>
            </a:pPr>
            <a:r>
              <a:rPr sz="1100" b="1">
                <a:solidFill>
                  <a:srgbClr val="141414"/>
                </a:solidFill>
              </a:rPr>
              <a:t>CORE ARCHITECTURE</a:t>
            </a:r>
            <a:endParaRPr/>
          </a:p>
        </p:txBody>
      </p:sp>
      <p:sp>
        <p:nvSpPr>
          <p:cNvPr id="111" name="Google Shape;111;p14"/>
          <p:cNvSpPr txBox="1"/>
          <p:nvPr/>
        </p:nvSpPr>
        <p:spPr>
          <a:xfrm>
            <a:off x="711182" y="1206469"/>
            <a:ext cx="5714857" cy="19049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rgbClr val="F5B937"/>
                </a:solidFill>
              </a:defRPr>
            </a:pPr>
            <a:r>
              <a:rPr sz="1200" b="1">
                <a:solidFill>
                  <a:srgbClr val="F5B937"/>
                </a:solidFill>
              </a:rPr>
              <a:t>SYSTEM ARCHITECTURE</a:t>
            </a:r>
            <a:endParaRPr/>
          </a:p>
        </p:txBody>
      </p:sp>
      <p:sp>
        <p:nvSpPr>
          <p:cNvPr id="112" name="Google Shape;112;p14"/>
          <p:cNvSpPr txBox="1"/>
          <p:nvPr/>
        </p:nvSpPr>
        <p:spPr>
          <a:xfrm>
            <a:off x="711182" y="1492212"/>
            <a:ext cx="10794730" cy="95247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FFFFFF"/>
                </a:solidFill>
              </a:defRPr>
            </a:pPr>
            <a:r>
              <a:rPr sz="2800" b="1">
                <a:solidFill>
                  <a:srgbClr val="FFFFFF"/>
                </a:solidFill>
              </a:rPr>
              <a:t>Dual-layer decision engine with self-correction guardrails</a:t>
            </a:r>
            <a:endParaRPr/>
          </a:p>
        </p:txBody>
      </p:sp>
      <p:sp>
        <p:nvSpPr>
          <p:cNvPr id="113" name="Google Shape;113;p14"/>
          <p:cNvSpPr/>
          <p:nvPr/>
        </p:nvSpPr>
        <p:spPr>
          <a:xfrm>
            <a:off x="711182" y="2666933"/>
            <a:ext cx="380990" cy="380990"/>
          </a:xfrm>
          <a:prstGeom prst="ellipse">
            <a:avLst/>
          </a:prstGeom>
          <a:solidFill>
            <a:srgbClr val="2A2110"/>
          </a:solidFill>
          <a:ln cap="flat" cmpd="sng" w="9525">
            <a:solidFill>
              <a:srgbClr val="8A682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4" name="Google Shape;114;p14"/>
          <p:cNvSpPr txBox="1"/>
          <p:nvPr/>
        </p:nvSpPr>
        <p:spPr>
          <a:xfrm>
            <a:off x="711182" y="2666933"/>
            <a:ext cx="380990" cy="38099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  <a:defRPr>
                <a:solidFill/>
              </a:defRPr>
            </a:pPr>
            <a:r>
              <a:rPr b="0" i="1" lang="en-US" sz="1700">
                <a:solidFill>
                  <a:srgbClr val="FFD27A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1</a:t>
            </a:r>
            <a:endParaRPr/>
          </a:p>
        </p:txBody>
      </p:sp>
      <p:sp>
        <p:nvSpPr>
          <p:cNvPr id="115" name="Google Shape;115;p14"/>
          <p:cNvSpPr txBox="1"/>
          <p:nvPr/>
        </p:nvSpPr>
        <p:spPr>
          <a:xfrm>
            <a:off x="1282667" y="2679633"/>
            <a:ext cx="4571885" cy="25399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  <a:defRPr sz="1400" b="1">
                <a:solidFill>
                  <a:srgbClr val="FFD778"/>
                </a:solidFill>
              </a:defRPr>
            </a:pPr>
            <a:r>
              <a:rPr sz="1400" b="1">
                <a:solidFill>
                  <a:srgbClr val="FFD778"/>
                </a:solidFill>
              </a:rPr>
              <a:t>1. Ingest &amp; Layout Parse</a:t>
            </a:r>
            <a:endParaRPr/>
          </a:p>
        </p:txBody>
      </p:sp>
      <p:sp>
        <p:nvSpPr>
          <p:cNvPr id="116" name="Google Shape;116;p14"/>
          <p:cNvSpPr txBox="1"/>
          <p:nvPr/>
        </p:nvSpPr>
        <p:spPr>
          <a:xfrm>
            <a:off x="1282667" y="2959026"/>
            <a:ext cx="4571885" cy="57148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F8FAFC"/>
                </a:solidFill>
              </a:defRPr>
            </a:pPr>
            <a:r>
              <a:rPr sz="1200">
                <a:solidFill>
                  <a:srgbClr val="F8FAFC"/>
                </a:solidFill>
              </a:rPr>
              <a:t>PyMuPDF normalizes multi-page unstructured PDF dossiers and CA tables.</a:t>
            </a:r>
            <a:endParaRPr/>
          </a:p>
        </p:txBody>
      </p:sp>
      <p:sp>
        <p:nvSpPr>
          <p:cNvPr id="117" name="Google Shape;117;p14"/>
          <p:cNvSpPr/>
          <p:nvPr/>
        </p:nvSpPr>
        <p:spPr>
          <a:xfrm>
            <a:off x="6172045" y="2666933"/>
            <a:ext cx="380990" cy="380990"/>
          </a:xfrm>
          <a:prstGeom prst="ellipse">
            <a:avLst/>
          </a:prstGeom>
          <a:solidFill>
            <a:srgbClr val="2A2110"/>
          </a:solidFill>
          <a:ln cap="flat" cmpd="sng" w="9525">
            <a:solidFill>
              <a:srgbClr val="8A682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" name="Google Shape;118;p14"/>
          <p:cNvSpPr txBox="1"/>
          <p:nvPr/>
        </p:nvSpPr>
        <p:spPr>
          <a:xfrm>
            <a:off x="6172045" y="2666933"/>
            <a:ext cx="380990" cy="38099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  <a:defRPr>
                <a:solidFill/>
              </a:defRPr>
            </a:pPr>
            <a:r>
              <a:rPr b="0" i="1" lang="en-US" sz="1700">
                <a:solidFill>
                  <a:srgbClr val="FFD27A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2</a:t>
            </a:r>
            <a:endParaRPr/>
          </a:p>
        </p:txBody>
      </p:sp>
      <p:sp>
        <p:nvSpPr>
          <p:cNvPr id="119" name="Google Shape;119;p14"/>
          <p:cNvSpPr txBox="1"/>
          <p:nvPr/>
        </p:nvSpPr>
        <p:spPr>
          <a:xfrm>
            <a:off x="6743531" y="2679633"/>
            <a:ext cx="4571885" cy="25399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  <a:defRPr sz="1400" b="1">
                <a:solidFill>
                  <a:srgbClr val="FFD778"/>
                </a:solidFill>
              </a:defRPr>
            </a:pPr>
            <a:r>
              <a:rPr sz="1400" b="1">
                <a:solidFill>
                  <a:srgbClr val="FFD778"/>
                </a:solidFill>
              </a:rPr>
              <a:t>2. Deterministic Solvers</a:t>
            </a:r>
            <a:endParaRPr/>
          </a:p>
        </p:txBody>
      </p:sp>
      <p:sp>
        <p:nvSpPr>
          <p:cNvPr id="120" name="Google Shape;120;p14"/>
          <p:cNvSpPr txBox="1"/>
          <p:nvPr/>
        </p:nvSpPr>
        <p:spPr>
          <a:xfrm>
            <a:off x="6743531" y="2959026"/>
            <a:ext cx="4571885" cy="57148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F8FAFC"/>
                </a:solidFill>
              </a:defRPr>
            </a:pPr>
            <a:r>
              <a:rPr sz="1200">
                <a:solidFill>
                  <a:srgbClr val="F8FAFC"/>
                </a:solidFill>
              </a:rPr>
              <a:t>Exact math, ISO expiry dates, Mod-36 GSTIN check, and EMD bank guarantee sums.</a:t>
            </a:r>
            <a:endParaRPr/>
          </a:p>
        </p:txBody>
      </p:sp>
      <p:sp>
        <p:nvSpPr>
          <p:cNvPr id="121" name="Google Shape;121;p14"/>
          <p:cNvSpPr/>
          <p:nvPr/>
        </p:nvSpPr>
        <p:spPr>
          <a:xfrm>
            <a:off x="711182" y="3809904"/>
            <a:ext cx="380990" cy="380990"/>
          </a:xfrm>
          <a:prstGeom prst="ellipse">
            <a:avLst/>
          </a:prstGeom>
          <a:solidFill>
            <a:srgbClr val="2A2110"/>
          </a:solidFill>
          <a:ln cap="flat" cmpd="sng" w="9525">
            <a:solidFill>
              <a:srgbClr val="8A682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2" name="Google Shape;122;p14"/>
          <p:cNvSpPr txBox="1"/>
          <p:nvPr/>
        </p:nvSpPr>
        <p:spPr>
          <a:xfrm>
            <a:off x="711182" y="3809904"/>
            <a:ext cx="380990" cy="38099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  <a:defRPr>
                <a:solidFill/>
              </a:defRPr>
            </a:pPr>
            <a:r>
              <a:rPr b="0" i="1" lang="en-US" sz="1700">
                <a:solidFill>
                  <a:srgbClr val="FFD27A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3</a:t>
            </a:r>
            <a:endParaRPr/>
          </a:p>
        </p:txBody>
      </p:sp>
      <p:sp>
        <p:nvSpPr>
          <p:cNvPr id="123" name="Google Shape;123;p14"/>
          <p:cNvSpPr txBox="1"/>
          <p:nvPr/>
        </p:nvSpPr>
        <p:spPr>
          <a:xfrm>
            <a:off x="1282667" y="3822604"/>
            <a:ext cx="4571885" cy="25399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  <a:defRPr sz="1400" b="1">
                <a:solidFill>
                  <a:srgbClr val="FFD778"/>
                </a:solidFill>
              </a:defRPr>
            </a:pPr>
            <a:r>
              <a:rPr sz="1400" b="1">
                <a:solidFill>
                  <a:srgbClr val="FFD778"/>
                </a:solidFill>
              </a:rPr>
              <a:t>3. Semantic Agent</a:t>
            </a:r>
            <a:endParaRPr/>
          </a:p>
        </p:txBody>
      </p:sp>
      <p:sp>
        <p:nvSpPr>
          <p:cNvPr id="124" name="Google Shape;124;p14"/>
          <p:cNvSpPr txBox="1"/>
          <p:nvPr/>
        </p:nvSpPr>
        <p:spPr>
          <a:xfrm>
            <a:off x="1282667" y="4101997"/>
            <a:ext cx="4571885" cy="57148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F8FAFC"/>
                </a:solidFill>
              </a:defRPr>
            </a:pPr>
            <a:r>
              <a:rPr sz="1200">
                <a:solidFill>
                  <a:srgbClr val="F8FAFC"/>
                </a:solidFill>
              </a:rPr>
              <a:t>Contextual scope-of-work matching, spec equivalence, and UDYAM MSE relief parsing.</a:t>
            </a:r>
            <a:endParaRPr/>
          </a:p>
        </p:txBody>
      </p:sp>
      <p:sp>
        <p:nvSpPr>
          <p:cNvPr id="125" name="Google Shape;125;p14"/>
          <p:cNvSpPr/>
          <p:nvPr/>
        </p:nvSpPr>
        <p:spPr>
          <a:xfrm>
            <a:off x="6172045" y="3809904"/>
            <a:ext cx="380990" cy="380990"/>
          </a:xfrm>
          <a:prstGeom prst="ellipse">
            <a:avLst/>
          </a:prstGeom>
          <a:solidFill>
            <a:srgbClr val="2A2110"/>
          </a:solidFill>
          <a:ln cap="flat" cmpd="sng" w="9525">
            <a:solidFill>
              <a:srgbClr val="8A682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6" name="Google Shape;126;p14"/>
          <p:cNvSpPr txBox="1"/>
          <p:nvPr/>
        </p:nvSpPr>
        <p:spPr>
          <a:xfrm>
            <a:off x="6172045" y="3809904"/>
            <a:ext cx="380990" cy="38099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  <a:defRPr>
                <a:solidFill/>
              </a:defRPr>
            </a:pPr>
            <a:r>
              <a:rPr b="0" i="1" lang="en-US" sz="1700">
                <a:solidFill>
                  <a:srgbClr val="FFD27A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4</a:t>
            </a:r>
            <a:endParaRPr/>
          </a:p>
        </p:txBody>
      </p:sp>
      <p:sp>
        <p:nvSpPr>
          <p:cNvPr id="127" name="Google Shape;127;p14"/>
          <p:cNvSpPr txBox="1"/>
          <p:nvPr/>
        </p:nvSpPr>
        <p:spPr>
          <a:xfrm>
            <a:off x="6743531" y="3822604"/>
            <a:ext cx="4571885" cy="25399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  <a:defRPr sz="1400" b="1">
                <a:solidFill>
                  <a:srgbClr val="FFD778"/>
                </a:solidFill>
              </a:defRPr>
            </a:pPr>
            <a:r>
              <a:rPr sz="1400" b="1">
                <a:solidFill>
                  <a:srgbClr val="FFD778"/>
                </a:solidFill>
              </a:rPr>
              <a:t>4. Reflection Guardrail</a:t>
            </a:r>
            <a:endParaRPr/>
          </a:p>
        </p:txBody>
      </p:sp>
      <p:sp>
        <p:nvSpPr>
          <p:cNvPr id="128" name="Google Shape;128;p14"/>
          <p:cNvSpPr txBox="1"/>
          <p:nvPr/>
        </p:nvSpPr>
        <p:spPr>
          <a:xfrm>
            <a:off x="6743531" y="4101997"/>
            <a:ext cx="4571885" cy="57148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F8FAFC"/>
                </a:solidFill>
              </a:defRPr>
            </a:pPr>
            <a:r>
              <a:rPr sz="1200">
                <a:solidFill>
                  <a:srgbClr val="F8FAFC"/>
                </a:solidFill>
              </a:rPr>
              <a:t>Automated consistency checker eliminates hallucinations &amp; false positives.</a:t>
            </a:r>
            <a:endParaRPr/>
          </a:p>
        </p:txBody>
      </p:sp>
      <p:sp>
        <p:nvSpPr>
          <p:cNvPr id="129" name="Google Shape;129;p14"/>
          <p:cNvSpPr/>
          <p:nvPr/>
        </p:nvSpPr>
        <p:spPr>
          <a:xfrm>
            <a:off x="711182" y="4952876"/>
            <a:ext cx="380990" cy="380990"/>
          </a:xfrm>
          <a:prstGeom prst="ellipse">
            <a:avLst/>
          </a:prstGeom>
          <a:solidFill>
            <a:srgbClr val="2A2110"/>
          </a:solidFill>
          <a:ln cap="flat" cmpd="sng" w="9525">
            <a:solidFill>
              <a:srgbClr val="8A682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0" name="Google Shape;130;p14"/>
          <p:cNvSpPr txBox="1"/>
          <p:nvPr/>
        </p:nvSpPr>
        <p:spPr>
          <a:xfrm>
            <a:off x="711182" y="4952876"/>
            <a:ext cx="380990" cy="38099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  <a:defRPr>
                <a:solidFill/>
              </a:defRPr>
            </a:pPr>
            <a:r>
              <a:rPr b="0" i="1" lang="en-US" sz="1700">
                <a:solidFill>
                  <a:srgbClr val="FFD27A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5</a:t>
            </a:r>
            <a:endParaRPr/>
          </a:p>
        </p:txBody>
      </p:sp>
      <p:sp>
        <p:nvSpPr>
          <p:cNvPr id="131" name="Google Shape;131;p14"/>
          <p:cNvSpPr txBox="1"/>
          <p:nvPr/>
        </p:nvSpPr>
        <p:spPr>
          <a:xfrm>
            <a:off x="1282667" y="4965575"/>
            <a:ext cx="4571885" cy="25399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  <a:defRPr sz="1400" b="1">
                <a:solidFill>
                  <a:srgbClr val="FFD778"/>
                </a:solidFill>
              </a:defRPr>
            </a:pPr>
            <a:r>
              <a:rPr sz="1400" b="1">
                <a:solidFill>
                  <a:srgbClr val="FFD778"/>
                </a:solidFill>
              </a:rPr>
              <a:t>5. Clause-Attribution Graph</a:t>
            </a:r>
            <a:endParaRPr/>
          </a:p>
        </p:txBody>
      </p:sp>
      <p:sp>
        <p:nvSpPr>
          <p:cNvPr id="132" name="Google Shape;132;p14"/>
          <p:cNvSpPr txBox="1"/>
          <p:nvPr/>
        </p:nvSpPr>
        <p:spPr>
          <a:xfrm>
            <a:off x="1282667" y="5244968"/>
            <a:ext cx="4571885" cy="57148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F8FAFC"/>
                </a:solidFill>
              </a:defRPr>
            </a:pPr>
            <a:r>
              <a:rPr sz="1200">
                <a:solidFill>
                  <a:srgbClr val="F8FAFC"/>
                </a:solidFill>
              </a:rPr>
              <a:t>100% traceable link connecting verdicts to verbatim quotes and page numbers.</a:t>
            </a:r>
            <a:endParaRPr/>
          </a:p>
        </p:txBody>
      </p:sp>
      <p:sp>
        <p:nvSpPr>
          <p:cNvPr id="133" name="Google Shape;133;p14"/>
          <p:cNvSpPr/>
          <p:nvPr/>
        </p:nvSpPr>
        <p:spPr>
          <a:xfrm>
            <a:off x="6172045" y="4952876"/>
            <a:ext cx="380990" cy="380990"/>
          </a:xfrm>
          <a:prstGeom prst="ellipse">
            <a:avLst/>
          </a:prstGeom>
          <a:solidFill>
            <a:srgbClr val="2A2110"/>
          </a:solidFill>
          <a:ln cap="flat" cmpd="sng" w="9525">
            <a:solidFill>
              <a:srgbClr val="8A682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4" name="Google Shape;134;p14"/>
          <p:cNvSpPr txBox="1"/>
          <p:nvPr/>
        </p:nvSpPr>
        <p:spPr>
          <a:xfrm>
            <a:off x="6172045" y="4952876"/>
            <a:ext cx="380990" cy="38099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  <a:defRPr>
                <a:solidFill/>
              </a:defRPr>
            </a:pPr>
            <a:r>
              <a:rPr b="0" i="1" lang="en-US" sz="1700">
                <a:solidFill>
                  <a:srgbClr val="FFD27A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6</a:t>
            </a:r>
            <a:endParaRPr/>
          </a:p>
        </p:txBody>
      </p:sp>
      <p:sp>
        <p:nvSpPr>
          <p:cNvPr id="135" name="Google Shape;135;p14"/>
          <p:cNvSpPr txBox="1"/>
          <p:nvPr/>
        </p:nvSpPr>
        <p:spPr>
          <a:xfrm>
            <a:off x="6743531" y="4965575"/>
            <a:ext cx="4571885" cy="25399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  <a:defRPr sz="1400" b="1">
                <a:solidFill>
                  <a:srgbClr val="FFD778"/>
                </a:solidFill>
              </a:defRPr>
            </a:pPr>
            <a:r>
              <a:rPr sz="1400" b="1">
                <a:solidFill>
                  <a:srgbClr val="FFD778"/>
                </a:solidFill>
              </a:rPr>
              <a:t>6. CVC Audit Scorecard</a:t>
            </a:r>
            <a:endParaRPr/>
          </a:p>
        </p:txBody>
      </p:sp>
      <p:sp>
        <p:nvSpPr>
          <p:cNvPr id="136" name="Google Shape;136;p14"/>
          <p:cNvSpPr txBox="1"/>
          <p:nvPr/>
        </p:nvSpPr>
        <p:spPr>
          <a:xfrm>
            <a:off x="6743531" y="5244968"/>
            <a:ext cx="4571885" cy="57148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F8FAFC"/>
                </a:solidFill>
              </a:defRPr>
            </a:pPr>
            <a:r>
              <a:rPr sz="1200">
                <a:solidFill>
                  <a:srgbClr val="F8FAFC"/>
                </a:solidFill>
              </a:rPr>
              <a:t>PASS / CONDITIONAL / REJECT in 1.2s with downloadable vigilance audit PDF.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ot.png" id="141" name="Google Shape;141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1695" cy="6857828"/>
          </a:xfrm>
          <a:prstGeom prst="rect">
            <a:avLst/>
          </a:prstGeom>
          <a:noFill/>
          <a:ln>
            <a:noFill/>
          </a:ln>
        </p:spPr>
      </p:pic>
      <p:sp>
        <p:nvSpPr>
          <p:cNvPr id="142" name="Google Shape;142;p15"/>
          <p:cNvSpPr txBox="1"/>
          <p:nvPr/>
        </p:nvSpPr>
        <p:spPr>
          <a:xfrm>
            <a:off x="711182" y="558786"/>
            <a:ext cx="4444888" cy="25399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  <a:defRPr>
                <a:solidFill/>
              </a:defRPr>
            </a:pPr>
            <a:r>
              <a:rPr b="1" i="0" lang="en-US" sz="1300">
                <a:solidFill>
                  <a:srgbClr val="F4EFE6"/>
                </a:solidFill>
                <a:latin typeface="Space Grotesk"/>
                <a:ea typeface="Space Grotesk"/>
                <a:cs typeface="Space Grotesk"/>
                <a:sym typeface="Space Grotesk"/>
              </a:rPr>
              <a:t>✱  BFWAI/HACK 26</a:t>
            </a:r>
            <a:endParaRPr/>
          </a:p>
        </p:txBody>
      </p:sp>
      <p:sp>
        <p:nvSpPr>
          <p:cNvPr id="143" name="Google Shape;143;p15"/>
          <p:cNvSpPr txBox="1"/>
          <p:nvPr/>
        </p:nvSpPr>
        <p:spPr>
          <a:xfrm>
            <a:off x="6984825" y="571485"/>
            <a:ext cx="4495687" cy="25399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  <a:defRPr sz="1300">
                <a:solidFill>
                  <a:srgbClr val="E1E6F0"/>
                </a:solidFill>
              </a:defRPr>
            </a:pPr>
            <a:r>
              <a:rPr sz="1300">
                <a:solidFill>
                  <a:srgbClr val="E1E6F0"/>
                </a:solidFill>
              </a:rPr>
              <a:t>03 · Live Prototype</a:t>
            </a:r>
            <a:endParaRPr/>
          </a:p>
        </p:txBody>
      </p:sp>
      <p:cxnSp>
        <p:nvCxnSpPr>
          <p:cNvPr id="144" name="Google Shape;144;p15"/>
          <p:cNvCxnSpPr/>
          <p:nvPr/>
        </p:nvCxnSpPr>
        <p:spPr>
          <a:xfrm>
            <a:off x="711182" y="6286342"/>
            <a:ext cx="10769330" cy="0"/>
          </a:xfrm>
          <a:prstGeom prst="straightConnector1">
            <a:avLst/>
          </a:prstGeom>
          <a:noFill/>
          <a:ln cap="flat" cmpd="sng" w="9525">
            <a:solidFill>
              <a:srgbClr val="332D25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sp>
        <p:nvSpPr>
          <p:cNvPr id="145" name="Google Shape;145;p15"/>
          <p:cNvSpPr txBox="1"/>
          <p:nvPr/>
        </p:nvSpPr>
        <p:spPr>
          <a:xfrm>
            <a:off x="711182" y="6413339"/>
            <a:ext cx="5714857" cy="22859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  <a:defRPr>
                <a:solidFill/>
              </a:defRPr>
            </a:pPr>
            <a:r>
              <a:rPr b="1" i="0" lang="en-US" sz="1100">
                <a:solidFill>
                  <a:srgbClr val="F4EFE6"/>
                </a:solidFill>
                <a:latin typeface="Space Grotesk"/>
                <a:ea typeface="Space Grotesk"/>
                <a:cs typeface="Space Grotesk"/>
                <a:sym typeface="Space Grotesk"/>
              </a:rPr>
              <a:t>buildfastwithai.com/hackathon ↗</a:t>
            </a:r>
            <a:endParaRPr/>
          </a:p>
        </p:txBody>
      </p:sp>
      <p:sp>
        <p:nvSpPr>
          <p:cNvPr id="146" name="Google Shape;146;p15"/>
          <p:cNvSpPr txBox="1"/>
          <p:nvPr/>
        </p:nvSpPr>
        <p:spPr>
          <a:xfrm>
            <a:off x="8254793" y="6426039"/>
            <a:ext cx="3225719" cy="22859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  <a:defRPr>
                <a:solidFill/>
              </a:defRPr>
            </a:pPr>
            <a:r>
              <a:rPr b="0" i="0" lang="en-US" sz="900">
                <a:solidFill>
                  <a:srgbClr val="E1E6F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03 / 10</a:t>
            </a:r>
            <a:endParaRPr/>
          </a:p>
        </p:txBody>
      </p:sp>
      <p:sp>
        <p:nvSpPr>
          <p:cNvPr id="147" name="Google Shape;147;p15"/>
          <p:cNvSpPr/>
          <p:nvPr/>
        </p:nvSpPr>
        <p:spPr>
          <a:xfrm>
            <a:off x="9207269" y="1079473"/>
            <a:ext cx="2273243" cy="330191"/>
          </a:xfrm>
          <a:prstGeom prst="roundRect">
            <a:avLst>
              <a:gd fmla="val 50000" name="adj"/>
            </a:avLst>
          </a:prstGeom>
          <a:solidFill>
            <a:srgbClr val="F2B632"/>
          </a:solidFill>
          <a:ln cap="flat" cmpd="sng" w="12700">
            <a:solidFill>
              <a:srgbClr val="F2B63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8" name="Google Shape;148;p15"/>
          <p:cNvSpPr txBox="1"/>
          <p:nvPr/>
        </p:nvSpPr>
        <p:spPr>
          <a:xfrm>
            <a:off x="9207269" y="1079473"/>
            <a:ext cx="2273243" cy="33019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  <a:defRPr sz="1100" b="1">
                <a:solidFill>
                  <a:srgbClr val="141414"/>
                </a:solidFill>
              </a:defRPr>
            </a:pPr>
            <a:r>
              <a:rPr sz="1100" b="1">
                <a:solidFill>
                  <a:srgbClr val="141414"/>
                </a:solidFill>
              </a:rPr>
              <a:t>WORKING PROTOTYPE</a:t>
            </a:r>
            <a:endParaRPr/>
          </a:p>
        </p:txBody>
      </p:sp>
      <p:sp>
        <p:nvSpPr>
          <p:cNvPr id="149" name="Google Shape;149;p15"/>
          <p:cNvSpPr txBox="1"/>
          <p:nvPr/>
        </p:nvSpPr>
        <p:spPr>
          <a:xfrm>
            <a:off x="711182" y="1206469"/>
            <a:ext cx="5714857" cy="19049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rgbClr val="F5B937"/>
                </a:solidFill>
              </a:defRPr>
            </a:pPr>
            <a:r>
              <a:rPr sz="1200" b="1">
                <a:solidFill>
                  <a:srgbClr val="F5B937"/>
                </a:solidFill>
              </a:rPr>
              <a:t>LIVE WORKSPACE</a:t>
            </a:r>
            <a:endParaRPr/>
          </a:p>
        </p:txBody>
      </p:sp>
      <p:sp>
        <p:nvSpPr>
          <p:cNvPr id="150" name="Google Shape;150;p15"/>
          <p:cNvSpPr txBox="1"/>
          <p:nvPr/>
        </p:nvSpPr>
        <p:spPr>
          <a:xfrm>
            <a:off x="711182" y="1492212"/>
            <a:ext cx="10794730" cy="95247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FFFFFF"/>
                </a:solidFill>
              </a:defRPr>
            </a:pPr>
            <a:r>
              <a:rPr sz="2800" b="1">
                <a:solidFill>
                  <a:srgbClr val="FFFFFF"/>
                </a:solidFill>
              </a:rPr>
              <a:t>Three views. One defensible finding.</a:t>
            </a:r>
            <a:endParaRPr/>
          </a:p>
        </p:txBody>
      </p:sp>
      <p:pic>
        <p:nvPicPr>
          <p:cNvPr descr="social-card.png" id="151" name="Google Shape;151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1182" y="2476438"/>
            <a:ext cx="6349841" cy="3594010"/>
          </a:xfrm>
          <a:prstGeom prst="rect">
            <a:avLst/>
          </a:prstGeom>
          <a:noFill/>
          <a:ln>
            <a:noFill/>
          </a:ln>
        </p:spPr>
      </p:pic>
      <p:sp>
        <p:nvSpPr>
          <p:cNvPr id="152" name="Google Shape;152;p15"/>
          <p:cNvSpPr/>
          <p:nvPr/>
        </p:nvSpPr>
        <p:spPr>
          <a:xfrm>
            <a:off x="7492812" y="2539936"/>
            <a:ext cx="380990" cy="380990"/>
          </a:xfrm>
          <a:prstGeom prst="ellipse">
            <a:avLst/>
          </a:prstGeom>
          <a:solidFill>
            <a:srgbClr val="2A2110"/>
          </a:solidFill>
          <a:ln cap="flat" cmpd="sng" w="9525">
            <a:solidFill>
              <a:srgbClr val="8A682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3" name="Google Shape;153;p15"/>
          <p:cNvSpPr txBox="1"/>
          <p:nvPr/>
        </p:nvSpPr>
        <p:spPr>
          <a:xfrm>
            <a:off x="7492812" y="2539936"/>
            <a:ext cx="380990" cy="38099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  <a:defRPr>
                <a:solidFill/>
              </a:defRPr>
            </a:pPr>
            <a:r>
              <a:rPr b="0" i="1" lang="en-US" sz="1700">
                <a:solidFill>
                  <a:srgbClr val="FFD27A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1</a:t>
            </a:r>
            <a:endParaRPr/>
          </a:p>
        </p:txBody>
      </p:sp>
      <p:sp>
        <p:nvSpPr>
          <p:cNvPr id="154" name="Google Shape;154;p15"/>
          <p:cNvSpPr txBox="1"/>
          <p:nvPr/>
        </p:nvSpPr>
        <p:spPr>
          <a:xfrm>
            <a:off x="8064298" y="2552636"/>
            <a:ext cx="3428914" cy="25399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  <a:defRPr sz="1400" b="1">
                <a:solidFill>
                  <a:srgbClr val="FFD778"/>
                </a:solidFill>
              </a:defRPr>
            </a:pPr>
            <a:r>
              <a:rPr sz="1400" b="1">
                <a:solidFill>
                  <a:srgbClr val="FFD778"/>
                </a:solidFill>
              </a:rPr>
              <a:t>Review Queue (13 Bids)</a:t>
            </a:r>
            <a:endParaRPr/>
          </a:p>
        </p:txBody>
      </p:sp>
      <p:sp>
        <p:nvSpPr>
          <p:cNvPr id="155" name="Google Shape;155;p15"/>
          <p:cNvSpPr txBox="1"/>
          <p:nvPr/>
        </p:nvSpPr>
        <p:spPr>
          <a:xfrm>
            <a:off x="8064298" y="2832029"/>
            <a:ext cx="3428914" cy="69848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F8FAFC"/>
                </a:solidFill>
              </a:defRPr>
            </a:pPr>
            <a:r>
              <a:rPr sz="1200">
                <a:solidFill>
                  <a:srgbClr val="F8FAFC"/>
                </a:solidFill>
              </a:rPr>
              <a:t>Side-by-side queue auditing 13 CPCL packages with live PASS, FAIL, &amp; CONDITIONAL tags.</a:t>
            </a:r>
            <a:endParaRPr/>
          </a:p>
        </p:txBody>
      </p:sp>
      <p:sp>
        <p:nvSpPr>
          <p:cNvPr id="156" name="Google Shape;156;p15"/>
          <p:cNvSpPr/>
          <p:nvPr/>
        </p:nvSpPr>
        <p:spPr>
          <a:xfrm>
            <a:off x="7492812" y="3746406"/>
            <a:ext cx="380990" cy="380990"/>
          </a:xfrm>
          <a:prstGeom prst="ellipse">
            <a:avLst/>
          </a:prstGeom>
          <a:solidFill>
            <a:srgbClr val="2A2110"/>
          </a:solidFill>
          <a:ln cap="flat" cmpd="sng" w="9525">
            <a:solidFill>
              <a:srgbClr val="8A682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7" name="Google Shape;157;p15"/>
          <p:cNvSpPr txBox="1"/>
          <p:nvPr/>
        </p:nvSpPr>
        <p:spPr>
          <a:xfrm>
            <a:off x="7492812" y="3746406"/>
            <a:ext cx="380990" cy="38099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  <a:defRPr>
                <a:solidFill/>
              </a:defRPr>
            </a:pPr>
            <a:r>
              <a:rPr b="0" i="1" lang="en-US" sz="1700">
                <a:solidFill>
                  <a:srgbClr val="FFD27A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2</a:t>
            </a:r>
            <a:endParaRPr/>
          </a:p>
        </p:txBody>
      </p:sp>
      <p:sp>
        <p:nvSpPr>
          <p:cNvPr id="158" name="Google Shape;158;p15"/>
          <p:cNvSpPr txBox="1"/>
          <p:nvPr/>
        </p:nvSpPr>
        <p:spPr>
          <a:xfrm>
            <a:off x="8064298" y="3759106"/>
            <a:ext cx="3428914" cy="25399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  <a:defRPr sz="1400" b="1">
                <a:solidFill>
                  <a:srgbClr val="FFD778"/>
                </a:solidFill>
              </a:defRPr>
            </a:pPr>
            <a:r>
              <a:rPr sz="1400" b="1">
                <a:solidFill>
                  <a:srgbClr val="FFD778"/>
                </a:solidFill>
              </a:rPr>
              <a:t>Split-Screen Evidence</a:t>
            </a:r>
            <a:endParaRPr/>
          </a:p>
        </p:txBody>
      </p:sp>
      <p:sp>
        <p:nvSpPr>
          <p:cNvPr id="159" name="Google Shape;159;p15"/>
          <p:cNvSpPr txBox="1"/>
          <p:nvPr/>
        </p:nvSpPr>
        <p:spPr>
          <a:xfrm>
            <a:off x="8064298" y="4038499"/>
            <a:ext cx="3428914" cy="69848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F8FAFC"/>
                </a:solidFill>
              </a:defRPr>
            </a:pPr>
            <a:r>
              <a:rPr sz="1200">
                <a:solidFill>
                  <a:srgbClr val="F8FAFC"/>
                </a:solidFill>
              </a:rPr>
              <a:t>PyMuPDF text stream highlighting CA balance sheets, ISO validity, and SBI bank guarantees.</a:t>
            </a:r>
            <a:endParaRPr/>
          </a:p>
        </p:txBody>
      </p:sp>
      <p:sp>
        <p:nvSpPr>
          <p:cNvPr id="160" name="Google Shape;160;p15"/>
          <p:cNvSpPr/>
          <p:nvPr/>
        </p:nvSpPr>
        <p:spPr>
          <a:xfrm>
            <a:off x="7492812" y="4952876"/>
            <a:ext cx="380990" cy="380990"/>
          </a:xfrm>
          <a:prstGeom prst="ellipse">
            <a:avLst/>
          </a:prstGeom>
          <a:solidFill>
            <a:srgbClr val="2A2110"/>
          </a:solidFill>
          <a:ln cap="flat" cmpd="sng" w="9525">
            <a:solidFill>
              <a:srgbClr val="8A682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1" name="Google Shape;161;p15"/>
          <p:cNvSpPr txBox="1"/>
          <p:nvPr/>
        </p:nvSpPr>
        <p:spPr>
          <a:xfrm>
            <a:off x="7492812" y="4952876"/>
            <a:ext cx="380990" cy="38099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  <a:defRPr>
                <a:solidFill/>
              </a:defRPr>
            </a:pPr>
            <a:r>
              <a:rPr b="0" i="1" lang="en-US" sz="1700">
                <a:solidFill>
                  <a:srgbClr val="FFD27A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3</a:t>
            </a:r>
            <a:endParaRPr/>
          </a:p>
        </p:txBody>
      </p:sp>
      <p:sp>
        <p:nvSpPr>
          <p:cNvPr id="162" name="Google Shape;162;p15"/>
          <p:cNvSpPr txBox="1"/>
          <p:nvPr/>
        </p:nvSpPr>
        <p:spPr>
          <a:xfrm>
            <a:off x="8064298" y="4965575"/>
            <a:ext cx="3428914" cy="25399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  <a:defRPr sz="1400" b="1">
                <a:solidFill>
                  <a:srgbClr val="FFD778"/>
                </a:solidFill>
              </a:defRPr>
            </a:pPr>
            <a:r>
              <a:rPr sz="1400" b="1">
                <a:solidFill>
                  <a:srgbClr val="FFD778"/>
                </a:solidFill>
              </a:rPr>
              <a:t>Cloud Deployed &amp; Verified</a:t>
            </a:r>
            <a:endParaRPr/>
          </a:p>
        </p:txBody>
      </p:sp>
      <p:sp>
        <p:nvSpPr>
          <p:cNvPr id="163" name="Google Shape;163;p15"/>
          <p:cNvSpPr txBox="1"/>
          <p:nvPr/>
        </p:nvSpPr>
        <p:spPr>
          <a:xfrm>
            <a:off x="8064298" y="5244968"/>
            <a:ext cx="3428914" cy="69848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F8FAFC"/>
                </a:solidFill>
              </a:defRPr>
            </a:pPr>
            <a:r>
              <a:rPr sz="1200">
                <a:solidFill>
                  <a:srgbClr val="F8FAFC"/>
                </a:solidFill>
              </a:rPr>
              <a:t>Live on Render (https://ai-build-hackathon.onrender.com) with 1-click PDF audit export.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corner.png" id="168" name="Google Shape;168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1695" cy="6857828"/>
          </a:xfrm>
          <a:prstGeom prst="rect">
            <a:avLst/>
          </a:prstGeom>
          <a:noFill/>
          <a:ln>
            <a:noFill/>
          </a:ln>
        </p:spPr>
      </p:pic>
      <p:sp>
        <p:nvSpPr>
          <p:cNvPr id="169" name="Google Shape;169;p16"/>
          <p:cNvSpPr txBox="1"/>
          <p:nvPr/>
        </p:nvSpPr>
        <p:spPr>
          <a:xfrm>
            <a:off x="711182" y="558786"/>
            <a:ext cx="4444888" cy="25399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  <a:defRPr>
                <a:solidFill/>
              </a:defRPr>
            </a:pPr>
            <a:r>
              <a:rPr b="1" i="0" lang="en-US" sz="1300">
                <a:solidFill>
                  <a:srgbClr val="F4EFE6"/>
                </a:solidFill>
                <a:latin typeface="Space Grotesk"/>
                <a:ea typeface="Space Grotesk"/>
                <a:cs typeface="Space Grotesk"/>
                <a:sym typeface="Space Grotesk"/>
              </a:rPr>
              <a:t>✱  BFWAI/HACK 26</a:t>
            </a:r>
            <a:endParaRPr/>
          </a:p>
        </p:txBody>
      </p:sp>
      <p:sp>
        <p:nvSpPr>
          <p:cNvPr id="170" name="Google Shape;170;p16"/>
          <p:cNvSpPr txBox="1"/>
          <p:nvPr/>
        </p:nvSpPr>
        <p:spPr>
          <a:xfrm>
            <a:off x="6984825" y="571485"/>
            <a:ext cx="4495687" cy="25399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  <a:defRPr>
                <a:solidFill/>
              </a:defRPr>
            </a:pPr>
            <a:r>
              <a:rPr b="0" i="0" lang="en-US" sz="1100">
                <a:solidFill>
                  <a:srgbClr val="E1E6F0"/>
                </a:solidFill>
                <a:latin typeface="Space Grotesk"/>
                <a:ea typeface="Space Grotesk"/>
                <a:cs typeface="Space Grotesk"/>
                <a:sym typeface="Space Grotesk"/>
              </a:rPr>
              <a:t>02 · The problem</a:t>
            </a:r>
            <a:endParaRPr/>
          </a:p>
        </p:txBody>
      </p:sp>
      <p:cxnSp>
        <p:nvCxnSpPr>
          <p:cNvPr id="171" name="Google Shape;171;p16"/>
          <p:cNvCxnSpPr/>
          <p:nvPr/>
        </p:nvCxnSpPr>
        <p:spPr>
          <a:xfrm>
            <a:off x="711182" y="6286342"/>
            <a:ext cx="10769330" cy="0"/>
          </a:xfrm>
          <a:prstGeom prst="straightConnector1">
            <a:avLst/>
          </a:prstGeom>
          <a:noFill/>
          <a:ln cap="flat" cmpd="sng" w="9525">
            <a:solidFill>
              <a:srgbClr val="332D25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sp>
        <p:nvSpPr>
          <p:cNvPr id="172" name="Google Shape;172;p16"/>
          <p:cNvSpPr txBox="1"/>
          <p:nvPr/>
        </p:nvSpPr>
        <p:spPr>
          <a:xfrm>
            <a:off x="711182" y="6413339"/>
            <a:ext cx="5714857" cy="22859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  <a:defRPr>
                <a:solidFill/>
              </a:defRPr>
            </a:pPr>
            <a:r>
              <a:rPr b="1" i="0" lang="en-US" sz="1100">
                <a:solidFill>
                  <a:srgbClr val="F4EFE6"/>
                </a:solidFill>
                <a:latin typeface="Space Grotesk"/>
                <a:ea typeface="Space Grotesk"/>
                <a:cs typeface="Space Grotesk"/>
                <a:sym typeface="Space Grotesk"/>
              </a:rPr>
              <a:t>buildfastwithai.com/hackathon ↗</a:t>
            </a:r>
            <a:endParaRPr/>
          </a:p>
        </p:txBody>
      </p:sp>
      <p:sp>
        <p:nvSpPr>
          <p:cNvPr id="173" name="Google Shape;173;p16"/>
          <p:cNvSpPr txBox="1"/>
          <p:nvPr/>
        </p:nvSpPr>
        <p:spPr>
          <a:xfrm>
            <a:off x="8254793" y="6426039"/>
            <a:ext cx="3225719" cy="22859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  <a:defRPr>
                <a:solidFill/>
              </a:defRPr>
            </a:pPr>
            <a:r>
              <a:rPr b="0" i="0" lang="en-US" sz="900">
                <a:solidFill>
                  <a:srgbClr val="E1E6F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04 / 10</a:t>
            </a:r>
            <a:endParaRPr/>
          </a:p>
        </p:txBody>
      </p:sp>
      <p:sp>
        <p:nvSpPr>
          <p:cNvPr id="174" name="Google Shape;174;p16"/>
          <p:cNvSpPr txBox="1"/>
          <p:nvPr/>
        </p:nvSpPr>
        <p:spPr>
          <a:xfrm>
            <a:off x="711182" y="1206469"/>
            <a:ext cx="5714857" cy="19049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  <a:defRPr>
                <a:solidFill/>
              </a:defRPr>
            </a:pPr>
            <a:r>
              <a:rPr b="1" i="0" lang="en-US" sz="950">
                <a:solidFill>
                  <a:srgbClr val="F2B632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THE PROBLEM</a:t>
            </a:r>
            <a:endParaRPr/>
          </a:p>
        </p:txBody>
      </p:sp>
      <p:sp>
        <p:nvSpPr>
          <p:cNvPr id="175" name="Google Shape;175;p16"/>
          <p:cNvSpPr txBox="1"/>
          <p:nvPr/>
        </p:nvSpPr>
        <p:spPr>
          <a:xfrm>
            <a:off x="711182" y="1492212"/>
            <a:ext cx="10794730" cy="95247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/>
              </a:defRPr>
            </a:pPr>
            <a:r>
              <a:rPr b="0" i="0" lang="en-US" sz="5000">
                <a:solidFill>
                  <a:srgbClr val="F4EFE6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The problem </a:t>
            </a:r>
            <a:r>
              <a:rPr b="0" i="1" lang="en-US" sz="5000">
                <a:solidFill>
                  <a:srgbClr val="FFD27A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we're solving</a:t>
            </a:r>
            <a:endParaRPr/>
          </a:p>
        </p:txBody>
      </p:sp>
      <p:sp>
        <p:nvSpPr>
          <p:cNvPr id="176" name="Google Shape;176;p16"/>
          <p:cNvSpPr/>
          <p:nvPr/>
        </p:nvSpPr>
        <p:spPr>
          <a:xfrm>
            <a:off x="711182" y="2539936"/>
            <a:ext cx="5206869" cy="1587460"/>
          </a:xfrm>
          <a:prstGeom prst="roundRect">
            <a:avLst>
              <a:gd fmla="val 6000" name="adj"/>
            </a:avLst>
          </a:prstGeom>
          <a:solidFill>
            <a:srgbClr val="17130E"/>
          </a:solidFill>
          <a:ln cap="flat" cmpd="sng" w="12700">
            <a:solidFill>
              <a:srgbClr val="332D2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7" name="Google Shape;177;p16"/>
          <p:cNvSpPr txBox="1"/>
          <p:nvPr/>
        </p:nvSpPr>
        <p:spPr>
          <a:xfrm>
            <a:off x="914377" y="2717732"/>
            <a:ext cx="4800479" cy="19049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  <a:defRPr>
                <a:solidFill/>
              </a:defRPr>
            </a:pPr>
            <a:r>
              <a:rPr b="1" i="0" lang="en-US" sz="950">
                <a:solidFill>
                  <a:srgbClr val="F2B632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PROBLEM STATEMENT</a:t>
            </a:r>
            <a:endParaRPr/>
          </a:p>
        </p:txBody>
      </p:sp>
      <p:sp>
        <p:nvSpPr>
          <p:cNvPr id="178" name="Google Shape;178;p16"/>
          <p:cNvSpPr txBox="1"/>
          <p:nvPr/>
        </p:nvSpPr>
        <p:spPr>
          <a:xfrm>
            <a:off x="914377" y="2984425"/>
            <a:ext cx="4800479" cy="977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  <a:defRPr sz="1300" b="0">
                <a:solidFill>
                  <a:srgbClr val="F8FAFC"/>
                </a:solidFill>
              </a:defRPr>
            </a:pPr>
            <a:r>
              <a:rPr sz="1300" b="0">
                <a:solidFill>
                  <a:srgbClr val="F8FAFC"/>
                </a:solidFill>
              </a:rPr>
              <a:t>PS-04 · AI Decision Engine for Business Data</a:t>
            </a:r>
            <a:endParaRPr/>
          </a:p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  <a:defRPr sz="1300" b="0">
                <a:solidFill>
                  <a:srgbClr val="F8FAFC"/>
                </a:solidFill>
              </a:defRPr>
            </a:pPr>
            <a:r>
              <a:rPr sz="1300" b="0">
                <a:solidFill>
                  <a:srgbClr val="F8FAFC"/>
                </a:solidFill>
              </a:rPr>
              <a:t>High-Stakes Technical Bid Verification Overhead in Public Procurement (CPCL / MoPNG)</a:t>
            </a:r>
            <a:endParaRPr/>
          </a:p>
        </p:txBody>
      </p:sp>
      <p:sp>
        <p:nvSpPr>
          <p:cNvPr id="179" name="Google Shape;179;p16"/>
          <p:cNvSpPr/>
          <p:nvPr/>
        </p:nvSpPr>
        <p:spPr>
          <a:xfrm>
            <a:off x="6273643" y="2539936"/>
            <a:ext cx="5206869" cy="1587460"/>
          </a:xfrm>
          <a:prstGeom prst="roundRect">
            <a:avLst>
              <a:gd fmla="val 6000" name="adj"/>
            </a:avLst>
          </a:prstGeom>
          <a:solidFill>
            <a:srgbClr val="17130E"/>
          </a:solidFill>
          <a:ln cap="flat" cmpd="sng" w="12700">
            <a:solidFill>
              <a:srgbClr val="332D2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16"/>
          <p:cNvSpPr txBox="1"/>
          <p:nvPr/>
        </p:nvSpPr>
        <p:spPr>
          <a:xfrm>
            <a:off x="6476838" y="2717732"/>
            <a:ext cx="4800479" cy="19049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  <a:defRPr>
                <a:solidFill/>
              </a:defRPr>
            </a:pPr>
            <a:r>
              <a:rPr b="1" i="0" lang="en-US" sz="950">
                <a:solidFill>
                  <a:srgbClr val="F2B632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WHO FACES IT</a:t>
            </a:r>
            <a:endParaRPr/>
          </a:p>
        </p:txBody>
      </p:sp>
      <p:sp>
        <p:nvSpPr>
          <p:cNvPr id="181" name="Google Shape;181;p16"/>
          <p:cNvSpPr txBox="1"/>
          <p:nvPr/>
        </p:nvSpPr>
        <p:spPr>
          <a:xfrm>
            <a:off x="6476838" y="2984425"/>
            <a:ext cx="4800479" cy="977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F8FAFC"/>
                </a:solidFill>
              </a:defRPr>
            </a:pPr>
            <a:r>
              <a:rPr sz="1200">
                <a:solidFill>
                  <a:srgbClr val="F8FAFC"/>
                </a:solidFill>
              </a:rPr>
              <a:t>Technical Evaluation Committees, Vigilance Officers (CVC), and GeM Procurement Executives across CPSEs (CPCL, Indian Oil, ONGC) handling refinery &amp; infrastructure tenders.</a:t>
            </a:r>
            <a:endParaRPr/>
          </a:p>
        </p:txBody>
      </p:sp>
      <p:sp>
        <p:nvSpPr>
          <p:cNvPr id="182" name="Google Shape;182;p16"/>
          <p:cNvSpPr/>
          <p:nvPr/>
        </p:nvSpPr>
        <p:spPr>
          <a:xfrm>
            <a:off x="711182" y="4381390"/>
            <a:ext cx="10769330" cy="1587460"/>
          </a:xfrm>
          <a:prstGeom prst="roundRect">
            <a:avLst>
              <a:gd fmla="val 6000" name="adj"/>
            </a:avLst>
          </a:prstGeom>
          <a:solidFill>
            <a:srgbClr val="17130E"/>
          </a:solidFill>
          <a:ln cap="flat" cmpd="sng" w="12700">
            <a:solidFill>
              <a:srgbClr val="332D2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3" name="Google Shape;183;p16"/>
          <p:cNvSpPr txBox="1"/>
          <p:nvPr/>
        </p:nvSpPr>
        <p:spPr>
          <a:xfrm>
            <a:off x="914377" y="4559186"/>
            <a:ext cx="10362940" cy="19049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  <a:defRPr>
                <a:solidFill/>
              </a:defRPr>
            </a:pPr>
            <a:r>
              <a:rPr b="1" i="0" lang="en-US" sz="950">
                <a:solidFill>
                  <a:srgbClr val="F2B632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WHAT IT COSTS THEM TODAY</a:t>
            </a:r>
            <a:endParaRPr/>
          </a:p>
        </p:txBody>
      </p:sp>
      <p:sp>
        <p:nvSpPr>
          <p:cNvPr id="184" name="Google Shape;184;p16"/>
          <p:cNvSpPr txBox="1"/>
          <p:nvPr/>
        </p:nvSpPr>
        <p:spPr>
          <a:xfrm>
            <a:off x="914377" y="4825879"/>
            <a:ext cx="10362940" cy="977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F8FAFC"/>
                </a:solidFill>
              </a:defRPr>
            </a:pPr>
            <a:r>
              <a:rPr sz="1200">
                <a:solidFill>
                  <a:srgbClr val="F8FAFC"/>
                </a:solidFill>
              </a:rPr>
              <a:t>• 3 to 5 business days spent manually auditing 100+ pages of unstructured scans per vendor.</a:t>
            </a:r>
            <a:endParaRPr/>
          </a:p>
          <a:p>
            <a:pPr>
              <a:defRPr sz="1200">
                <a:solidFill>
                  <a:srgbClr val="F8FAFC"/>
                </a:solidFill>
              </a:defRPr>
            </a:pPr>
            <a:r>
              <a:rPr sz="1200">
                <a:solidFill>
                  <a:srgbClr val="F8FAFC"/>
                </a:solidFill>
              </a:rPr>
              <a:t>• 40%+ disqualification rate due to non-material clerical oversights, unfairly excluding compliant Indian MSMEs.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rPr sz="1200">
                <a:solidFill>
                  <a:srgbClr val="F8FAFC"/>
                </a:solidFill>
              </a:rPr>
              <a:t>• Severe vigilance &amp; legal scrutiny under CVC guidelines from forged GSTINs, expired ISOs, or shell fronting.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rPr sz="1200">
                <a:solidFill>
                  <a:srgbClr val="F8FAFC"/>
                </a:solidFill>
              </a:rPr>
              <a:t>• Standard LLMs hallucinate financial figures and fail to provide clause-verifiable evidence chains.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top.png" id="189" name="Google Shape;189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1695" cy="6857828"/>
          </a:xfrm>
          <a:prstGeom prst="rect">
            <a:avLst/>
          </a:prstGeom>
          <a:noFill/>
          <a:ln>
            <a:noFill/>
          </a:ln>
        </p:spPr>
      </p:pic>
      <p:sp>
        <p:nvSpPr>
          <p:cNvPr id="190" name="Google Shape;190;p17"/>
          <p:cNvSpPr txBox="1"/>
          <p:nvPr/>
        </p:nvSpPr>
        <p:spPr>
          <a:xfrm>
            <a:off x="711182" y="558786"/>
            <a:ext cx="4444888" cy="25399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  <a:defRPr>
                <a:solidFill/>
              </a:defRPr>
            </a:pPr>
            <a:r>
              <a:rPr b="1" i="0" lang="en-US" sz="1300">
                <a:solidFill>
                  <a:srgbClr val="F4EFE6"/>
                </a:solidFill>
                <a:latin typeface="Space Grotesk"/>
                <a:ea typeface="Space Grotesk"/>
                <a:cs typeface="Space Grotesk"/>
                <a:sym typeface="Space Grotesk"/>
              </a:rPr>
              <a:t>✱  BFWAI/HACK 26</a:t>
            </a:r>
            <a:endParaRPr/>
          </a:p>
        </p:txBody>
      </p:sp>
      <p:sp>
        <p:nvSpPr>
          <p:cNvPr id="191" name="Google Shape;191;p17"/>
          <p:cNvSpPr txBox="1"/>
          <p:nvPr/>
        </p:nvSpPr>
        <p:spPr>
          <a:xfrm>
            <a:off x="6984825" y="571485"/>
            <a:ext cx="4495687" cy="25399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  <a:defRPr>
                <a:solidFill/>
              </a:defRPr>
            </a:pPr>
            <a:r>
              <a:rPr b="0" i="0" lang="en-US" sz="1100">
                <a:solidFill>
                  <a:srgbClr val="E1E6F0"/>
                </a:solidFill>
                <a:latin typeface="Space Grotesk"/>
                <a:ea typeface="Space Grotesk"/>
                <a:cs typeface="Space Grotesk"/>
                <a:sym typeface="Space Grotesk"/>
              </a:rPr>
              <a:t>03 · Solution overview</a:t>
            </a:r>
            <a:endParaRPr/>
          </a:p>
        </p:txBody>
      </p:sp>
      <p:cxnSp>
        <p:nvCxnSpPr>
          <p:cNvPr id="192" name="Google Shape;192;p17"/>
          <p:cNvCxnSpPr/>
          <p:nvPr/>
        </p:nvCxnSpPr>
        <p:spPr>
          <a:xfrm>
            <a:off x="711182" y="6286342"/>
            <a:ext cx="10769330" cy="0"/>
          </a:xfrm>
          <a:prstGeom prst="straightConnector1">
            <a:avLst/>
          </a:prstGeom>
          <a:noFill/>
          <a:ln cap="flat" cmpd="sng" w="9525">
            <a:solidFill>
              <a:srgbClr val="332D25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sp>
        <p:nvSpPr>
          <p:cNvPr id="193" name="Google Shape;193;p17"/>
          <p:cNvSpPr txBox="1"/>
          <p:nvPr/>
        </p:nvSpPr>
        <p:spPr>
          <a:xfrm>
            <a:off x="711182" y="6413339"/>
            <a:ext cx="5714857" cy="22859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  <a:defRPr>
                <a:solidFill/>
              </a:defRPr>
            </a:pPr>
            <a:r>
              <a:rPr b="1" i="0" lang="en-US" sz="1100">
                <a:solidFill>
                  <a:srgbClr val="F4EFE6"/>
                </a:solidFill>
                <a:latin typeface="Space Grotesk"/>
                <a:ea typeface="Space Grotesk"/>
                <a:cs typeface="Space Grotesk"/>
                <a:sym typeface="Space Grotesk"/>
              </a:rPr>
              <a:t>buildfastwithai.com/hackathon ↗</a:t>
            </a:r>
            <a:endParaRPr/>
          </a:p>
        </p:txBody>
      </p:sp>
      <p:sp>
        <p:nvSpPr>
          <p:cNvPr id="194" name="Google Shape;194;p17"/>
          <p:cNvSpPr txBox="1"/>
          <p:nvPr/>
        </p:nvSpPr>
        <p:spPr>
          <a:xfrm>
            <a:off x="8254793" y="6426039"/>
            <a:ext cx="3225719" cy="22859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  <a:defRPr>
                <a:solidFill/>
              </a:defRPr>
            </a:pPr>
            <a:r>
              <a:rPr b="0" i="0" lang="en-US" sz="900">
                <a:solidFill>
                  <a:srgbClr val="E1E6F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05 / 10</a:t>
            </a:r>
            <a:endParaRPr/>
          </a:p>
        </p:txBody>
      </p:sp>
      <p:sp>
        <p:nvSpPr>
          <p:cNvPr id="195" name="Google Shape;195;p17"/>
          <p:cNvSpPr txBox="1"/>
          <p:nvPr/>
        </p:nvSpPr>
        <p:spPr>
          <a:xfrm>
            <a:off x="711182" y="1206469"/>
            <a:ext cx="5714857" cy="19049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  <a:defRPr>
                <a:solidFill/>
              </a:defRPr>
            </a:pPr>
            <a:r>
              <a:rPr b="1" i="0" lang="en-US" sz="950">
                <a:solidFill>
                  <a:srgbClr val="F2B632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SOLUTION OVERVIEW</a:t>
            </a:r>
            <a:endParaRPr/>
          </a:p>
        </p:txBody>
      </p:sp>
      <p:sp>
        <p:nvSpPr>
          <p:cNvPr id="196" name="Google Shape;196;p17"/>
          <p:cNvSpPr txBox="1"/>
          <p:nvPr/>
        </p:nvSpPr>
        <p:spPr>
          <a:xfrm>
            <a:off x="711182" y="1492212"/>
            <a:ext cx="10794730" cy="95247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/>
              </a:defRPr>
            </a:pPr>
            <a:r>
              <a:rPr b="0" i="0" lang="en-US" sz="5000">
                <a:solidFill>
                  <a:srgbClr val="F4EFE6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What </a:t>
            </a:r>
            <a:r>
              <a:rPr b="0" i="1" lang="en-US" sz="5000">
                <a:solidFill>
                  <a:srgbClr val="FFD27A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we're building</a:t>
            </a:r>
            <a:endParaRPr/>
          </a:p>
        </p:txBody>
      </p:sp>
      <p:sp>
        <p:nvSpPr>
          <p:cNvPr id="197" name="Google Shape;197;p17"/>
          <p:cNvSpPr/>
          <p:nvPr/>
        </p:nvSpPr>
        <p:spPr>
          <a:xfrm>
            <a:off x="711182" y="2539936"/>
            <a:ext cx="10769330" cy="1587460"/>
          </a:xfrm>
          <a:prstGeom prst="roundRect">
            <a:avLst>
              <a:gd fmla="val 6000" name="adj"/>
            </a:avLst>
          </a:prstGeom>
          <a:solidFill>
            <a:srgbClr val="17130E"/>
          </a:solidFill>
          <a:ln cap="flat" cmpd="sng" w="12700">
            <a:solidFill>
              <a:srgbClr val="332D2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8" name="Google Shape;198;p17"/>
          <p:cNvSpPr txBox="1"/>
          <p:nvPr/>
        </p:nvSpPr>
        <p:spPr>
          <a:xfrm>
            <a:off x="914377" y="2717732"/>
            <a:ext cx="10362940" cy="19049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  <a:defRPr>
                <a:solidFill/>
              </a:defRPr>
            </a:pPr>
            <a:r>
              <a:rPr b="1" i="0" lang="en-US" sz="950">
                <a:solidFill>
                  <a:srgbClr val="F2B632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IN TWO OR THREE LINES</a:t>
            </a:r>
            <a:endParaRPr/>
          </a:p>
        </p:txBody>
      </p:sp>
      <p:sp>
        <p:nvSpPr>
          <p:cNvPr id="199" name="Google Shape;199;p17"/>
          <p:cNvSpPr txBox="1"/>
          <p:nvPr/>
        </p:nvSpPr>
        <p:spPr>
          <a:xfrm>
            <a:off x="914377" y="2984425"/>
            <a:ext cx="10362940" cy="977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  <a:defRPr sz="1300">
                <a:solidFill>
                  <a:srgbClr val="F8FAFC"/>
                </a:solidFill>
              </a:defRPr>
            </a:pPr>
            <a:r>
              <a:rPr sz="1300">
                <a:solidFill>
                  <a:srgbClr val="F8FAFC"/>
                </a:solidFill>
              </a:rPr>
              <a:t>TenderPulse AI is an autonomous, zero-hallucination AI decision engine that ingests scanned multi-page bid dossiers, validates them against official NIT criteria via dual-layer verification, and generates a vigilance-grade audit verdict in 1.2 seconds.</a:t>
            </a:r>
            <a:endParaRPr/>
          </a:p>
        </p:txBody>
      </p:sp>
      <p:sp>
        <p:nvSpPr>
          <p:cNvPr id="200" name="Google Shape;200;p17"/>
          <p:cNvSpPr/>
          <p:nvPr/>
        </p:nvSpPr>
        <p:spPr>
          <a:xfrm>
            <a:off x="711182" y="4381390"/>
            <a:ext cx="5206869" cy="1587460"/>
          </a:xfrm>
          <a:prstGeom prst="roundRect">
            <a:avLst>
              <a:gd fmla="val 6000" name="adj"/>
            </a:avLst>
          </a:prstGeom>
          <a:solidFill>
            <a:srgbClr val="17130E"/>
          </a:solidFill>
          <a:ln cap="flat" cmpd="sng" w="12700">
            <a:solidFill>
              <a:srgbClr val="332D2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1" name="Google Shape;201;p17"/>
          <p:cNvSpPr txBox="1"/>
          <p:nvPr/>
        </p:nvSpPr>
        <p:spPr>
          <a:xfrm>
            <a:off x="914377" y="4559186"/>
            <a:ext cx="4800479" cy="19049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  <a:defRPr>
                <a:solidFill/>
              </a:defRPr>
            </a:pPr>
            <a:r>
              <a:rPr b="1" i="0" lang="en-US" sz="950">
                <a:solidFill>
                  <a:srgbClr val="F2B632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WHAT THE USER DOES</a:t>
            </a:r>
            <a:endParaRPr/>
          </a:p>
        </p:txBody>
      </p:sp>
      <p:sp>
        <p:nvSpPr>
          <p:cNvPr id="202" name="Google Shape;202;p17"/>
          <p:cNvSpPr txBox="1"/>
          <p:nvPr/>
        </p:nvSpPr>
        <p:spPr>
          <a:xfrm>
            <a:off x="914377" y="4825879"/>
            <a:ext cx="4800479" cy="977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F8FAFC"/>
                </a:solidFill>
              </a:defRPr>
            </a:pPr>
            <a:r>
              <a:rPr sz="1200">
                <a:solidFill>
                  <a:srgbClr val="F8FAFC"/>
                </a:solidFill>
              </a:rPr>
              <a:t>The procurement officer selects or uploads a vendor's multi-page technical bid package (PDF) and clicks 'Audit Selected Dossier'.</a:t>
            </a:r>
            <a:endParaRPr/>
          </a:p>
        </p:txBody>
      </p:sp>
      <p:sp>
        <p:nvSpPr>
          <p:cNvPr id="203" name="Google Shape;203;p17"/>
          <p:cNvSpPr/>
          <p:nvPr/>
        </p:nvSpPr>
        <p:spPr>
          <a:xfrm>
            <a:off x="6273643" y="4381390"/>
            <a:ext cx="5206869" cy="1587460"/>
          </a:xfrm>
          <a:prstGeom prst="roundRect">
            <a:avLst>
              <a:gd fmla="val 6000" name="adj"/>
            </a:avLst>
          </a:prstGeom>
          <a:solidFill>
            <a:srgbClr val="17130E"/>
          </a:solidFill>
          <a:ln cap="flat" cmpd="sng" w="12700">
            <a:solidFill>
              <a:srgbClr val="332D2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17"/>
          <p:cNvSpPr txBox="1"/>
          <p:nvPr/>
        </p:nvSpPr>
        <p:spPr>
          <a:xfrm>
            <a:off x="6476838" y="4559186"/>
            <a:ext cx="4800479" cy="19049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  <a:defRPr>
                <a:solidFill/>
              </a:defRPr>
            </a:pPr>
            <a:r>
              <a:rPr b="1" i="0" lang="en-US" sz="950">
                <a:solidFill>
                  <a:srgbClr val="F2B632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WHAT THEY GET BACK</a:t>
            </a:r>
            <a:endParaRPr/>
          </a:p>
        </p:txBody>
      </p:sp>
      <p:sp>
        <p:nvSpPr>
          <p:cNvPr id="205" name="Google Shape;205;p17"/>
          <p:cNvSpPr txBox="1"/>
          <p:nvPr/>
        </p:nvSpPr>
        <p:spPr>
          <a:xfrm>
            <a:off x="6476838" y="4825879"/>
            <a:ext cx="4800479" cy="977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F8FAFC"/>
                </a:solidFill>
              </a:defRPr>
            </a:pPr>
            <a:r>
              <a:rPr sz="1200">
                <a:solidFill>
                  <a:srgbClr val="F8FAFC"/>
                </a:solidFill>
              </a:rPr>
              <a:t>An instant, CVC-defensible compliance scorecard (PASS / CONDITIONAL / REJECT) with clause-level citations, reflection traces, and a one-click downloadable PDF audit report.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9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left.png" id="210" name="Google Shape;210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1695" cy="6857828"/>
          </a:xfrm>
          <a:prstGeom prst="rect">
            <a:avLst/>
          </a:prstGeom>
          <a:noFill/>
          <a:ln>
            <a:noFill/>
          </a:ln>
        </p:spPr>
      </p:pic>
      <p:sp>
        <p:nvSpPr>
          <p:cNvPr id="211" name="Google Shape;211;p18"/>
          <p:cNvSpPr txBox="1"/>
          <p:nvPr/>
        </p:nvSpPr>
        <p:spPr>
          <a:xfrm>
            <a:off x="711182" y="558786"/>
            <a:ext cx="4444888" cy="25399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  <a:defRPr>
                <a:solidFill/>
              </a:defRPr>
            </a:pPr>
            <a:r>
              <a:rPr b="1" i="0" lang="en-US" sz="1300">
                <a:solidFill>
                  <a:srgbClr val="F4EFE6"/>
                </a:solidFill>
                <a:latin typeface="Space Grotesk"/>
                <a:ea typeface="Space Grotesk"/>
                <a:cs typeface="Space Grotesk"/>
                <a:sym typeface="Space Grotesk"/>
              </a:rPr>
              <a:t>✱  BFWAI/HACK 26</a:t>
            </a:r>
            <a:endParaRPr/>
          </a:p>
        </p:txBody>
      </p:sp>
      <p:sp>
        <p:nvSpPr>
          <p:cNvPr id="212" name="Google Shape;212;p18"/>
          <p:cNvSpPr txBox="1"/>
          <p:nvPr/>
        </p:nvSpPr>
        <p:spPr>
          <a:xfrm>
            <a:off x="6984825" y="571485"/>
            <a:ext cx="4495687" cy="25399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  <a:defRPr>
                <a:solidFill/>
              </a:defRPr>
            </a:pPr>
            <a:r>
              <a:rPr b="0" i="0" lang="en-US" sz="1100">
                <a:solidFill>
                  <a:srgbClr val="E1E6F0"/>
                </a:solidFill>
                <a:latin typeface="Space Grotesk"/>
                <a:ea typeface="Space Grotesk"/>
                <a:cs typeface="Space Grotesk"/>
                <a:sym typeface="Space Grotesk"/>
              </a:rPr>
              <a:t>04 · Technical approach</a:t>
            </a:r>
            <a:endParaRPr/>
          </a:p>
        </p:txBody>
      </p:sp>
      <p:cxnSp>
        <p:nvCxnSpPr>
          <p:cNvPr id="213" name="Google Shape;213;p18"/>
          <p:cNvCxnSpPr/>
          <p:nvPr/>
        </p:nvCxnSpPr>
        <p:spPr>
          <a:xfrm>
            <a:off x="711182" y="6286342"/>
            <a:ext cx="10769330" cy="0"/>
          </a:xfrm>
          <a:prstGeom prst="straightConnector1">
            <a:avLst/>
          </a:prstGeom>
          <a:noFill/>
          <a:ln cap="flat" cmpd="sng" w="9525">
            <a:solidFill>
              <a:srgbClr val="332D25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sp>
        <p:nvSpPr>
          <p:cNvPr id="214" name="Google Shape;214;p18"/>
          <p:cNvSpPr txBox="1"/>
          <p:nvPr/>
        </p:nvSpPr>
        <p:spPr>
          <a:xfrm>
            <a:off x="711182" y="6413339"/>
            <a:ext cx="5714857" cy="22859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  <a:defRPr>
                <a:solidFill/>
              </a:defRPr>
            </a:pPr>
            <a:r>
              <a:rPr b="1" i="0" lang="en-US" sz="1100">
                <a:solidFill>
                  <a:srgbClr val="F4EFE6"/>
                </a:solidFill>
                <a:latin typeface="Space Grotesk"/>
                <a:ea typeface="Space Grotesk"/>
                <a:cs typeface="Space Grotesk"/>
                <a:sym typeface="Space Grotesk"/>
              </a:rPr>
              <a:t>buildfastwithai.com/hackathon ↗</a:t>
            </a:r>
            <a:endParaRPr/>
          </a:p>
        </p:txBody>
      </p:sp>
      <p:sp>
        <p:nvSpPr>
          <p:cNvPr id="215" name="Google Shape;215;p18"/>
          <p:cNvSpPr txBox="1"/>
          <p:nvPr/>
        </p:nvSpPr>
        <p:spPr>
          <a:xfrm>
            <a:off x="8254793" y="6426039"/>
            <a:ext cx="3225719" cy="22859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  <a:defRPr>
                <a:solidFill/>
              </a:defRPr>
            </a:pPr>
            <a:r>
              <a:rPr b="0" i="0" lang="en-US" sz="900">
                <a:solidFill>
                  <a:srgbClr val="E1E6F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06 / 10</a:t>
            </a:r>
            <a:endParaRPr/>
          </a:p>
        </p:txBody>
      </p:sp>
      <p:sp>
        <p:nvSpPr>
          <p:cNvPr id="216" name="Google Shape;216;p18"/>
          <p:cNvSpPr txBox="1"/>
          <p:nvPr/>
        </p:nvSpPr>
        <p:spPr>
          <a:xfrm>
            <a:off x="711182" y="1206469"/>
            <a:ext cx="5714857" cy="19049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  <a:defRPr>
                <a:solidFill/>
              </a:defRPr>
            </a:pPr>
            <a:r>
              <a:rPr b="1" i="0" lang="en-US" sz="950">
                <a:solidFill>
                  <a:srgbClr val="F2B632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TECHNICAL APPROACH</a:t>
            </a:r>
            <a:endParaRPr/>
          </a:p>
        </p:txBody>
      </p:sp>
      <p:sp>
        <p:nvSpPr>
          <p:cNvPr id="217" name="Google Shape;217;p18"/>
          <p:cNvSpPr txBox="1"/>
          <p:nvPr/>
        </p:nvSpPr>
        <p:spPr>
          <a:xfrm>
            <a:off x="711182" y="1492212"/>
            <a:ext cx="10794730" cy="95247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/>
              </a:defRPr>
            </a:pPr>
            <a:r>
              <a:rPr b="0" i="0" lang="en-US" sz="5000">
                <a:solidFill>
                  <a:srgbClr val="F4EFE6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How </a:t>
            </a:r>
            <a:r>
              <a:rPr b="0" i="1" lang="en-US" sz="5000">
                <a:solidFill>
                  <a:srgbClr val="FFD27A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it works</a:t>
            </a:r>
            <a:endParaRPr/>
          </a:p>
        </p:txBody>
      </p:sp>
      <p:sp>
        <p:nvSpPr>
          <p:cNvPr id="218" name="Google Shape;218;p18"/>
          <p:cNvSpPr/>
          <p:nvPr/>
        </p:nvSpPr>
        <p:spPr>
          <a:xfrm>
            <a:off x="711182" y="2539936"/>
            <a:ext cx="5206869" cy="1587460"/>
          </a:xfrm>
          <a:prstGeom prst="roundRect">
            <a:avLst>
              <a:gd fmla="val 6000" name="adj"/>
            </a:avLst>
          </a:prstGeom>
          <a:solidFill>
            <a:srgbClr val="17130E"/>
          </a:solidFill>
          <a:ln cap="flat" cmpd="sng" w="12700">
            <a:solidFill>
              <a:srgbClr val="332D2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9" name="Google Shape;219;p18"/>
          <p:cNvSpPr txBox="1"/>
          <p:nvPr/>
        </p:nvSpPr>
        <p:spPr>
          <a:xfrm>
            <a:off x="914377" y="2717732"/>
            <a:ext cx="4800479" cy="19049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  <a:defRPr>
                <a:solidFill/>
              </a:defRPr>
            </a:pPr>
            <a:r>
              <a:rPr b="1" i="0" lang="en-US" sz="950">
                <a:solidFill>
                  <a:srgbClr val="F2B632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MODELS</a:t>
            </a:r>
            <a:endParaRPr/>
          </a:p>
        </p:txBody>
      </p:sp>
      <p:sp>
        <p:nvSpPr>
          <p:cNvPr id="220" name="Google Shape;220;p18"/>
          <p:cNvSpPr txBox="1"/>
          <p:nvPr/>
        </p:nvSpPr>
        <p:spPr>
          <a:xfrm>
            <a:off x="914377" y="2984425"/>
            <a:ext cx="4800479" cy="977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F8FAFC"/>
                </a:solidFill>
              </a:defRPr>
            </a:pPr>
            <a:r>
              <a:rPr sz="1200">
                <a:solidFill>
                  <a:srgbClr val="F8FAFC"/>
                </a:solidFill>
              </a:rPr>
              <a:t>Dual-layer hybrid stack: Deterministic constraint algorithms for statutory math/dates + LiteLLM / Semantic Agent for contextual scope matching, technical spec equivalence, and UDYAM MSE relief analysis.</a:t>
            </a:r>
            <a:endParaRPr/>
          </a:p>
        </p:txBody>
      </p:sp>
      <p:sp>
        <p:nvSpPr>
          <p:cNvPr id="221" name="Google Shape;221;p18"/>
          <p:cNvSpPr/>
          <p:nvPr/>
        </p:nvSpPr>
        <p:spPr>
          <a:xfrm>
            <a:off x="6273643" y="2539936"/>
            <a:ext cx="5206869" cy="1587460"/>
          </a:xfrm>
          <a:prstGeom prst="roundRect">
            <a:avLst>
              <a:gd fmla="val 6000" name="adj"/>
            </a:avLst>
          </a:prstGeom>
          <a:solidFill>
            <a:srgbClr val="17130E"/>
          </a:solidFill>
          <a:ln cap="flat" cmpd="sng" w="12700">
            <a:solidFill>
              <a:srgbClr val="332D2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2" name="Google Shape;222;p18"/>
          <p:cNvSpPr txBox="1"/>
          <p:nvPr/>
        </p:nvSpPr>
        <p:spPr>
          <a:xfrm>
            <a:off x="6476838" y="2717732"/>
            <a:ext cx="4800479" cy="19049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  <a:defRPr>
                <a:solidFill/>
              </a:defRPr>
            </a:pPr>
            <a:r>
              <a:rPr b="1" i="0" lang="en-US" sz="950">
                <a:solidFill>
                  <a:srgbClr val="F2B632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TOOLS &amp; FRAMEWORKS</a:t>
            </a:r>
            <a:endParaRPr/>
          </a:p>
        </p:txBody>
      </p:sp>
      <p:sp>
        <p:nvSpPr>
          <p:cNvPr id="223" name="Google Shape;223;p18"/>
          <p:cNvSpPr txBox="1"/>
          <p:nvPr/>
        </p:nvSpPr>
        <p:spPr>
          <a:xfrm>
            <a:off x="6476838" y="2984425"/>
            <a:ext cx="4800479" cy="977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F8FAFC"/>
                </a:solidFill>
              </a:defRPr>
            </a:pPr>
            <a:r>
              <a:rPr sz="1200">
                <a:solidFill>
                  <a:srgbClr val="F8FAFC"/>
                </a:solidFill>
              </a:rPr>
              <a:t>PyMuPDF (layout-normalized parsing), Python 3.11, Mod-36 GSTIN Validator, ReportLab (PDF audit generator), and Docker / Render cloud deployment.</a:t>
            </a:r>
            <a:endParaRPr/>
          </a:p>
        </p:txBody>
      </p:sp>
      <p:sp>
        <p:nvSpPr>
          <p:cNvPr id="224" name="Google Shape;224;p18"/>
          <p:cNvSpPr/>
          <p:nvPr/>
        </p:nvSpPr>
        <p:spPr>
          <a:xfrm>
            <a:off x="711182" y="4381390"/>
            <a:ext cx="5206869" cy="1587460"/>
          </a:xfrm>
          <a:prstGeom prst="roundRect">
            <a:avLst>
              <a:gd fmla="val 6000" name="adj"/>
            </a:avLst>
          </a:prstGeom>
          <a:solidFill>
            <a:srgbClr val="17130E"/>
          </a:solidFill>
          <a:ln cap="flat" cmpd="sng" w="12700">
            <a:solidFill>
              <a:srgbClr val="332D2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5" name="Google Shape;225;p18"/>
          <p:cNvSpPr txBox="1"/>
          <p:nvPr/>
        </p:nvSpPr>
        <p:spPr>
          <a:xfrm>
            <a:off x="914377" y="4559186"/>
            <a:ext cx="4800479" cy="19049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  <a:defRPr>
                <a:solidFill/>
              </a:defRPr>
            </a:pPr>
            <a:r>
              <a:rPr b="1" i="0" lang="en-US" sz="950">
                <a:solidFill>
                  <a:srgbClr val="F2B632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DATA</a:t>
            </a:r>
            <a:endParaRPr/>
          </a:p>
        </p:txBody>
      </p:sp>
      <p:sp>
        <p:nvSpPr>
          <p:cNvPr id="226" name="Google Shape;226;p18"/>
          <p:cNvSpPr txBox="1"/>
          <p:nvPr/>
        </p:nvSpPr>
        <p:spPr>
          <a:xfrm>
            <a:off x="914377" y="4825879"/>
            <a:ext cx="4800479" cy="977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F8FAFC"/>
                </a:solidFill>
              </a:defRPr>
            </a:pPr>
            <a:r>
              <a:rPr sz="1200">
                <a:solidFill>
                  <a:srgbClr val="F8FAFC"/>
                </a:solidFill>
              </a:rPr>
              <a:t>13 benchmark tender dossiers including authentic CPCL Manali Refinery packages (Technip Energies) and targeted edge cases (expired ISO, turnover deficit, EMD shortfall, and UDYAM MSME relief).</a:t>
            </a:r>
            <a:endParaRPr/>
          </a:p>
        </p:txBody>
      </p:sp>
      <p:sp>
        <p:nvSpPr>
          <p:cNvPr id="227" name="Google Shape;227;p18"/>
          <p:cNvSpPr/>
          <p:nvPr/>
        </p:nvSpPr>
        <p:spPr>
          <a:xfrm>
            <a:off x="6273643" y="4381390"/>
            <a:ext cx="5206869" cy="1587460"/>
          </a:xfrm>
          <a:prstGeom prst="roundRect">
            <a:avLst>
              <a:gd fmla="val 6000" name="adj"/>
            </a:avLst>
          </a:prstGeom>
          <a:solidFill>
            <a:srgbClr val="17130E"/>
          </a:solidFill>
          <a:ln cap="flat" cmpd="sng" w="12700">
            <a:solidFill>
              <a:srgbClr val="332D2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8" name="Google Shape;228;p18"/>
          <p:cNvSpPr txBox="1"/>
          <p:nvPr/>
        </p:nvSpPr>
        <p:spPr>
          <a:xfrm>
            <a:off x="6476838" y="4559186"/>
            <a:ext cx="4800479" cy="19049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  <a:defRPr>
                <a:solidFill/>
              </a:defRPr>
            </a:pPr>
            <a:r>
              <a:rPr b="1" i="0" lang="en-US" sz="950">
                <a:solidFill>
                  <a:srgbClr val="F2B632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HUMAN APPROVAL</a:t>
            </a:r>
            <a:endParaRPr/>
          </a:p>
        </p:txBody>
      </p:sp>
      <p:sp>
        <p:nvSpPr>
          <p:cNvPr id="229" name="Google Shape;229;p18"/>
          <p:cNvSpPr txBox="1"/>
          <p:nvPr/>
        </p:nvSpPr>
        <p:spPr>
          <a:xfrm>
            <a:off x="6476838" y="4825879"/>
            <a:ext cx="4800479" cy="977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F8FAFC"/>
                </a:solidFill>
              </a:defRPr>
            </a:pPr>
            <a:r>
              <a:rPr sz="1200">
                <a:solidFill>
                  <a:srgbClr val="F8FAFC"/>
                </a:solidFill>
              </a:rPr>
              <a:t>CONDITIONAL verdicts pause for human committee sign-off on borderline MSME exemptions (Clause 4.5) and pending certificate renewals, ensuring complete CVC vigilance compliance.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corner.png" id="234" name="Google Shape;234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1695" cy="6857828"/>
          </a:xfrm>
          <a:prstGeom prst="rect">
            <a:avLst/>
          </a:prstGeom>
          <a:noFill/>
          <a:ln>
            <a:noFill/>
          </a:ln>
        </p:spPr>
      </p:pic>
      <p:sp>
        <p:nvSpPr>
          <p:cNvPr id="235" name="Google Shape;235;p19"/>
          <p:cNvSpPr txBox="1"/>
          <p:nvPr/>
        </p:nvSpPr>
        <p:spPr>
          <a:xfrm>
            <a:off x="711182" y="558786"/>
            <a:ext cx="4444888" cy="25399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  <a:defRPr>
                <a:solidFill/>
              </a:defRPr>
            </a:pPr>
            <a:r>
              <a:rPr b="1" i="0" lang="en-US" sz="1300">
                <a:solidFill>
                  <a:srgbClr val="F4EFE6"/>
                </a:solidFill>
                <a:latin typeface="Space Grotesk"/>
                <a:ea typeface="Space Grotesk"/>
                <a:cs typeface="Space Grotesk"/>
                <a:sym typeface="Space Grotesk"/>
              </a:rPr>
              <a:t>✱  BFWAI/HACK 26</a:t>
            </a:r>
            <a:endParaRPr/>
          </a:p>
        </p:txBody>
      </p:sp>
      <p:sp>
        <p:nvSpPr>
          <p:cNvPr id="236" name="Google Shape;236;p19"/>
          <p:cNvSpPr txBox="1"/>
          <p:nvPr/>
        </p:nvSpPr>
        <p:spPr>
          <a:xfrm>
            <a:off x="6984825" y="571485"/>
            <a:ext cx="4495687" cy="25399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  <a:defRPr>
                <a:solidFill/>
              </a:defRPr>
            </a:pPr>
            <a:r>
              <a:rPr b="0" i="0" lang="en-US" sz="1100">
                <a:solidFill>
                  <a:srgbClr val="E1E6F0"/>
                </a:solidFill>
                <a:latin typeface="Space Grotesk"/>
                <a:ea typeface="Space Grotesk"/>
                <a:cs typeface="Space Grotesk"/>
                <a:sym typeface="Space Grotesk"/>
              </a:rPr>
              <a:t>05 · Key features</a:t>
            </a:r>
            <a:endParaRPr/>
          </a:p>
        </p:txBody>
      </p:sp>
      <p:cxnSp>
        <p:nvCxnSpPr>
          <p:cNvPr id="237" name="Google Shape;237;p19"/>
          <p:cNvCxnSpPr/>
          <p:nvPr/>
        </p:nvCxnSpPr>
        <p:spPr>
          <a:xfrm>
            <a:off x="711182" y="6286342"/>
            <a:ext cx="10769330" cy="0"/>
          </a:xfrm>
          <a:prstGeom prst="straightConnector1">
            <a:avLst/>
          </a:prstGeom>
          <a:noFill/>
          <a:ln cap="flat" cmpd="sng" w="9525">
            <a:solidFill>
              <a:srgbClr val="332D25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sp>
        <p:nvSpPr>
          <p:cNvPr id="238" name="Google Shape;238;p19"/>
          <p:cNvSpPr txBox="1"/>
          <p:nvPr/>
        </p:nvSpPr>
        <p:spPr>
          <a:xfrm>
            <a:off x="711182" y="6413339"/>
            <a:ext cx="5714857" cy="22859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  <a:defRPr>
                <a:solidFill/>
              </a:defRPr>
            </a:pPr>
            <a:r>
              <a:rPr b="1" i="0" lang="en-US" sz="1100">
                <a:solidFill>
                  <a:srgbClr val="F4EFE6"/>
                </a:solidFill>
                <a:latin typeface="Space Grotesk"/>
                <a:ea typeface="Space Grotesk"/>
                <a:cs typeface="Space Grotesk"/>
                <a:sym typeface="Space Grotesk"/>
              </a:rPr>
              <a:t>buildfastwithai.com/hackathon ↗</a:t>
            </a:r>
            <a:endParaRPr/>
          </a:p>
        </p:txBody>
      </p:sp>
      <p:sp>
        <p:nvSpPr>
          <p:cNvPr id="239" name="Google Shape;239;p19"/>
          <p:cNvSpPr txBox="1"/>
          <p:nvPr/>
        </p:nvSpPr>
        <p:spPr>
          <a:xfrm>
            <a:off x="8254793" y="6426039"/>
            <a:ext cx="3225719" cy="22859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  <a:defRPr>
                <a:solidFill/>
              </a:defRPr>
            </a:pPr>
            <a:r>
              <a:rPr b="0" i="0" lang="en-US" sz="900">
                <a:solidFill>
                  <a:srgbClr val="E1E6F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07 / 10</a:t>
            </a:r>
            <a:endParaRPr/>
          </a:p>
        </p:txBody>
      </p:sp>
      <p:sp>
        <p:nvSpPr>
          <p:cNvPr id="240" name="Google Shape;240;p19"/>
          <p:cNvSpPr txBox="1"/>
          <p:nvPr/>
        </p:nvSpPr>
        <p:spPr>
          <a:xfrm>
            <a:off x="711182" y="1206469"/>
            <a:ext cx="5714857" cy="19049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  <a:defRPr>
                <a:solidFill/>
              </a:defRPr>
            </a:pPr>
            <a:r>
              <a:rPr b="1" i="0" lang="en-US" sz="950">
                <a:solidFill>
                  <a:srgbClr val="F2B632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KEY FEATURES</a:t>
            </a:r>
            <a:endParaRPr/>
          </a:p>
        </p:txBody>
      </p:sp>
      <p:sp>
        <p:nvSpPr>
          <p:cNvPr id="241" name="Google Shape;241;p19"/>
          <p:cNvSpPr txBox="1"/>
          <p:nvPr/>
        </p:nvSpPr>
        <p:spPr>
          <a:xfrm>
            <a:off x="711182" y="1492212"/>
            <a:ext cx="10794730" cy="95247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/>
              </a:defRPr>
            </a:pPr>
            <a:r>
              <a:rPr b="0" i="0" lang="en-US" sz="5000">
                <a:solidFill>
                  <a:srgbClr val="F4EFE6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What it will do </a:t>
            </a:r>
            <a:r>
              <a:rPr b="0" i="1" lang="en-US" sz="5000">
                <a:solidFill>
                  <a:srgbClr val="FFD27A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by 1 Oct</a:t>
            </a:r>
            <a:endParaRPr/>
          </a:p>
        </p:txBody>
      </p:sp>
      <p:cxnSp>
        <p:nvCxnSpPr>
          <p:cNvPr id="242" name="Google Shape;242;p19"/>
          <p:cNvCxnSpPr/>
          <p:nvPr/>
        </p:nvCxnSpPr>
        <p:spPr>
          <a:xfrm>
            <a:off x="711182" y="2539936"/>
            <a:ext cx="10769330" cy="0"/>
          </a:xfrm>
          <a:prstGeom prst="straightConnector1">
            <a:avLst/>
          </a:prstGeom>
          <a:noFill/>
          <a:ln cap="flat" cmpd="sng" w="9525">
            <a:solidFill>
              <a:srgbClr val="332D25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sp>
        <p:nvSpPr>
          <p:cNvPr id="243" name="Google Shape;243;p19"/>
          <p:cNvSpPr txBox="1"/>
          <p:nvPr/>
        </p:nvSpPr>
        <p:spPr>
          <a:xfrm>
            <a:off x="711182" y="2679633"/>
            <a:ext cx="634984" cy="4444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  <a:defRPr>
                <a:solidFill/>
              </a:defRPr>
            </a:pPr>
            <a:r>
              <a:rPr b="0" i="1" lang="en-US" sz="2400">
                <a:solidFill>
                  <a:srgbClr val="FFD27A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01</a:t>
            </a:r>
            <a:endParaRPr/>
          </a:p>
        </p:txBody>
      </p:sp>
      <p:sp>
        <p:nvSpPr>
          <p:cNvPr id="244" name="Google Shape;244;p19"/>
          <p:cNvSpPr txBox="1"/>
          <p:nvPr/>
        </p:nvSpPr>
        <p:spPr>
          <a:xfrm>
            <a:off x="1460463" y="2705032"/>
            <a:ext cx="3555911" cy="3809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  <a:defRPr sz="1400" b="1">
                <a:solidFill>
                  <a:srgbClr val="FFD778"/>
                </a:solidFill>
              </a:defRPr>
            </a:pPr>
            <a:r>
              <a:rPr sz="1400" b="1">
                <a:solidFill>
                  <a:srgbClr val="FFD778"/>
                </a:solidFill>
              </a:rPr>
              <a:t>Zero-Hallucination Solvers</a:t>
            </a:r>
            <a:endParaRPr/>
          </a:p>
        </p:txBody>
      </p:sp>
      <p:sp>
        <p:nvSpPr>
          <p:cNvPr id="245" name="Google Shape;245;p19"/>
          <p:cNvSpPr txBox="1"/>
          <p:nvPr/>
        </p:nvSpPr>
        <p:spPr>
          <a:xfrm>
            <a:off x="5206869" y="2730431"/>
            <a:ext cx="6273643" cy="3809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F8FAFC"/>
                </a:solidFill>
              </a:defRPr>
            </a:pPr>
            <a:r>
              <a:rPr sz="1200">
                <a:solidFill>
                  <a:srgbClr val="F8FAFC"/>
                </a:solidFill>
              </a:rPr>
              <a:t>Deterministic regex, Mod-36 checksum, and date-math engines guarantee 100% accuracy on statutory criteria.</a:t>
            </a:r>
            <a:endParaRPr/>
          </a:p>
        </p:txBody>
      </p:sp>
      <p:cxnSp>
        <p:nvCxnSpPr>
          <p:cNvPr id="246" name="Google Shape;246;p19"/>
          <p:cNvCxnSpPr/>
          <p:nvPr/>
        </p:nvCxnSpPr>
        <p:spPr>
          <a:xfrm>
            <a:off x="711182" y="3238419"/>
            <a:ext cx="10769330" cy="0"/>
          </a:xfrm>
          <a:prstGeom prst="straightConnector1">
            <a:avLst/>
          </a:prstGeom>
          <a:noFill/>
          <a:ln cap="flat" cmpd="sng" w="9525">
            <a:solidFill>
              <a:srgbClr val="332D25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sp>
        <p:nvSpPr>
          <p:cNvPr id="247" name="Google Shape;247;p19"/>
          <p:cNvSpPr txBox="1"/>
          <p:nvPr/>
        </p:nvSpPr>
        <p:spPr>
          <a:xfrm>
            <a:off x="711182" y="3378115"/>
            <a:ext cx="634984" cy="4444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  <a:defRPr>
                <a:solidFill/>
              </a:defRPr>
            </a:pPr>
            <a:r>
              <a:rPr b="0" i="1" lang="en-US" sz="2400">
                <a:solidFill>
                  <a:srgbClr val="FFD27A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02</a:t>
            </a:r>
            <a:endParaRPr/>
          </a:p>
        </p:txBody>
      </p:sp>
      <p:sp>
        <p:nvSpPr>
          <p:cNvPr id="248" name="Google Shape;248;p19"/>
          <p:cNvSpPr txBox="1"/>
          <p:nvPr/>
        </p:nvSpPr>
        <p:spPr>
          <a:xfrm>
            <a:off x="1460463" y="3403514"/>
            <a:ext cx="3555911" cy="3809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  <a:defRPr sz="1400" b="1">
                <a:solidFill>
                  <a:srgbClr val="FFD778"/>
                </a:solidFill>
              </a:defRPr>
            </a:pPr>
            <a:r>
              <a:rPr sz="1400" b="1">
                <a:solidFill>
                  <a:srgbClr val="FFD778"/>
                </a:solidFill>
              </a:rPr>
              <a:t>Traceable Attribution Graph</a:t>
            </a:r>
            <a:endParaRPr/>
          </a:p>
        </p:txBody>
      </p:sp>
      <p:sp>
        <p:nvSpPr>
          <p:cNvPr id="249" name="Google Shape;249;p19"/>
          <p:cNvSpPr txBox="1"/>
          <p:nvPr/>
        </p:nvSpPr>
        <p:spPr>
          <a:xfrm>
            <a:off x="5206869" y="3428914"/>
            <a:ext cx="6273643" cy="3809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F8FAFC"/>
                </a:solidFill>
              </a:defRPr>
            </a:pPr>
            <a:r>
              <a:rPr sz="1200">
                <a:solidFill>
                  <a:srgbClr val="F8FAFC"/>
                </a:solidFill>
              </a:rPr>
              <a:t>Every PASS/FAIL verdict is linked to exact page numbers, clause IDs, and verbatim quotations.</a:t>
            </a:r>
            <a:endParaRPr/>
          </a:p>
        </p:txBody>
      </p:sp>
      <p:cxnSp>
        <p:nvCxnSpPr>
          <p:cNvPr id="250" name="Google Shape;250;p19"/>
          <p:cNvCxnSpPr/>
          <p:nvPr/>
        </p:nvCxnSpPr>
        <p:spPr>
          <a:xfrm>
            <a:off x="711182" y="3936901"/>
            <a:ext cx="10769330" cy="0"/>
          </a:xfrm>
          <a:prstGeom prst="straightConnector1">
            <a:avLst/>
          </a:prstGeom>
          <a:noFill/>
          <a:ln cap="flat" cmpd="sng" w="9525">
            <a:solidFill>
              <a:srgbClr val="332D25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sp>
        <p:nvSpPr>
          <p:cNvPr id="251" name="Google Shape;251;p19"/>
          <p:cNvSpPr txBox="1"/>
          <p:nvPr/>
        </p:nvSpPr>
        <p:spPr>
          <a:xfrm>
            <a:off x="711182" y="4076598"/>
            <a:ext cx="634984" cy="4444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  <a:defRPr>
                <a:solidFill/>
              </a:defRPr>
            </a:pPr>
            <a:r>
              <a:rPr b="0" i="1" lang="en-US" sz="2400">
                <a:solidFill>
                  <a:srgbClr val="FFD27A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03</a:t>
            </a:r>
            <a:endParaRPr/>
          </a:p>
        </p:txBody>
      </p:sp>
      <p:sp>
        <p:nvSpPr>
          <p:cNvPr id="252" name="Google Shape;252;p19"/>
          <p:cNvSpPr txBox="1"/>
          <p:nvPr/>
        </p:nvSpPr>
        <p:spPr>
          <a:xfrm>
            <a:off x="1460463" y="4101997"/>
            <a:ext cx="3555911" cy="3809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  <a:defRPr sz="1400" b="1">
                <a:solidFill>
                  <a:srgbClr val="FFD778"/>
                </a:solidFill>
              </a:defRPr>
            </a:pPr>
            <a:r>
              <a:rPr sz="1400" b="1">
                <a:solidFill>
                  <a:srgbClr val="FFD778"/>
                </a:solidFill>
              </a:rPr>
              <a:t>MSME Relief Engine</a:t>
            </a:r>
            <a:endParaRPr/>
          </a:p>
        </p:txBody>
      </p:sp>
      <p:sp>
        <p:nvSpPr>
          <p:cNvPr id="253" name="Google Shape;253;p19"/>
          <p:cNvSpPr txBox="1"/>
          <p:nvPr/>
        </p:nvSpPr>
        <p:spPr>
          <a:xfrm>
            <a:off x="5206869" y="4127396"/>
            <a:ext cx="6273643" cy="3809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F8FAFC"/>
                </a:solidFill>
              </a:defRPr>
            </a:pPr>
            <a:r>
              <a:rPr sz="1200">
                <a:solidFill>
                  <a:srgbClr val="F8FAFC"/>
                </a:solidFill>
              </a:rPr>
              <a:t>Recognizes valid UDYAM registrations and applies turnover relaxations under Public Procurement Policy Clause 4.5.</a:t>
            </a:r>
            <a:endParaRPr/>
          </a:p>
        </p:txBody>
      </p:sp>
      <p:cxnSp>
        <p:nvCxnSpPr>
          <p:cNvPr id="254" name="Google Shape;254;p19"/>
          <p:cNvCxnSpPr/>
          <p:nvPr/>
        </p:nvCxnSpPr>
        <p:spPr>
          <a:xfrm>
            <a:off x="711182" y="4635384"/>
            <a:ext cx="10769330" cy="0"/>
          </a:xfrm>
          <a:prstGeom prst="straightConnector1">
            <a:avLst/>
          </a:prstGeom>
          <a:noFill/>
          <a:ln cap="flat" cmpd="sng" w="9525">
            <a:solidFill>
              <a:srgbClr val="332D25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sp>
        <p:nvSpPr>
          <p:cNvPr id="255" name="Google Shape;255;p19"/>
          <p:cNvSpPr txBox="1"/>
          <p:nvPr/>
        </p:nvSpPr>
        <p:spPr>
          <a:xfrm>
            <a:off x="711182" y="4775080"/>
            <a:ext cx="634984" cy="4444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  <a:defRPr>
                <a:solidFill/>
              </a:defRPr>
            </a:pPr>
            <a:r>
              <a:rPr b="0" i="1" lang="en-US" sz="2400">
                <a:solidFill>
                  <a:srgbClr val="FFD27A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04</a:t>
            </a:r>
            <a:endParaRPr/>
          </a:p>
        </p:txBody>
      </p:sp>
      <p:sp>
        <p:nvSpPr>
          <p:cNvPr id="256" name="Google Shape;256;p19"/>
          <p:cNvSpPr txBox="1"/>
          <p:nvPr/>
        </p:nvSpPr>
        <p:spPr>
          <a:xfrm>
            <a:off x="1460463" y="4800479"/>
            <a:ext cx="3555911" cy="3809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  <a:defRPr sz="1400" b="1">
                <a:solidFill>
                  <a:srgbClr val="FFD778"/>
                </a:solidFill>
              </a:defRPr>
            </a:pPr>
            <a:r>
              <a:rPr sz="1400" b="1">
                <a:solidFill>
                  <a:srgbClr val="FFD778"/>
                </a:solidFill>
              </a:rPr>
              <a:t>Vigilance-Grade Audit Trail</a:t>
            </a:r>
            <a:endParaRPr/>
          </a:p>
        </p:txBody>
      </p:sp>
      <p:sp>
        <p:nvSpPr>
          <p:cNvPr id="257" name="Google Shape;257;p19"/>
          <p:cNvSpPr txBox="1"/>
          <p:nvPr/>
        </p:nvSpPr>
        <p:spPr>
          <a:xfrm>
            <a:off x="5206869" y="4825879"/>
            <a:ext cx="6273643" cy="3809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F8FAFC"/>
                </a:solidFill>
              </a:defRPr>
            </a:pPr>
            <a:r>
              <a:rPr sz="1200">
                <a:solidFill>
                  <a:srgbClr val="F8FAFC"/>
                </a:solidFill>
              </a:rPr>
              <a:t>Exports complete CVC-defensible PDF audit scorecards and full agent execution trajectory logs (.jsonl).</a:t>
            </a:r>
            <a:endParaRPr/>
          </a:p>
        </p:txBody>
      </p:sp>
      <p:cxnSp>
        <p:nvCxnSpPr>
          <p:cNvPr id="258" name="Google Shape;258;p19"/>
          <p:cNvCxnSpPr/>
          <p:nvPr/>
        </p:nvCxnSpPr>
        <p:spPr>
          <a:xfrm>
            <a:off x="711182" y="5333866"/>
            <a:ext cx="10769330" cy="0"/>
          </a:xfrm>
          <a:prstGeom prst="straightConnector1">
            <a:avLst/>
          </a:prstGeom>
          <a:noFill/>
          <a:ln cap="flat" cmpd="sng" w="9525">
            <a:solidFill>
              <a:srgbClr val="332D25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sp>
        <p:nvSpPr>
          <p:cNvPr id="259" name="Google Shape;259;p19"/>
          <p:cNvSpPr txBox="1"/>
          <p:nvPr/>
        </p:nvSpPr>
        <p:spPr>
          <a:xfrm>
            <a:off x="711182" y="5473563"/>
            <a:ext cx="634984" cy="4444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  <a:defRPr>
                <a:solidFill/>
              </a:defRPr>
            </a:pPr>
            <a:r>
              <a:rPr b="0" i="1" lang="en-US" sz="2400">
                <a:solidFill>
                  <a:srgbClr val="FFD27A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05</a:t>
            </a:r>
            <a:endParaRPr/>
          </a:p>
        </p:txBody>
      </p:sp>
      <p:sp>
        <p:nvSpPr>
          <p:cNvPr id="260" name="Google Shape;260;p19"/>
          <p:cNvSpPr txBox="1"/>
          <p:nvPr/>
        </p:nvSpPr>
        <p:spPr>
          <a:xfrm>
            <a:off x="1460463" y="5498962"/>
            <a:ext cx="3555911" cy="3809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  <a:defRPr sz="1400" b="1">
                <a:solidFill>
                  <a:srgbClr val="FFD778"/>
                </a:solidFill>
              </a:defRPr>
            </a:pPr>
            <a:r>
              <a:rPr sz="1400" b="1">
                <a:solidFill>
                  <a:srgbClr val="FFD778"/>
                </a:solidFill>
              </a:rPr>
              <a:t>Dual-Persona Interface</a:t>
            </a:r>
            <a:endParaRPr/>
          </a:p>
        </p:txBody>
      </p:sp>
      <p:sp>
        <p:nvSpPr>
          <p:cNvPr id="261" name="Google Shape;261;p19"/>
          <p:cNvSpPr txBox="1"/>
          <p:nvPr/>
        </p:nvSpPr>
        <p:spPr>
          <a:xfrm>
            <a:off x="5206869" y="5524361"/>
            <a:ext cx="6273643" cy="3809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F8FAFC"/>
                </a:solidFill>
              </a:defRPr>
            </a:pPr>
            <a:r>
              <a:rPr sz="1200">
                <a:solidFill>
                  <a:srgbClr val="F8FAFC"/>
                </a:solidFill>
              </a:rPr>
              <a:t>Procurement Officer mode with split-screen evidence + MSME Supplier pre-flight self-check mode.</a:t>
            </a:r>
            <a:endParaRPr/>
          </a:p>
        </p:txBody>
      </p:sp>
      <p:cxnSp>
        <p:nvCxnSpPr>
          <p:cNvPr id="262" name="Google Shape;262;p19"/>
          <p:cNvCxnSpPr/>
          <p:nvPr/>
        </p:nvCxnSpPr>
        <p:spPr>
          <a:xfrm>
            <a:off x="711182" y="6032349"/>
            <a:ext cx="10769330" cy="0"/>
          </a:xfrm>
          <a:prstGeom prst="straightConnector1">
            <a:avLst/>
          </a:prstGeom>
          <a:noFill/>
          <a:ln cap="flat" cmpd="sng" w="9525">
            <a:solidFill>
              <a:srgbClr val="332D25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ot.png" id="267" name="Google Shape;267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1695" cy="6857828"/>
          </a:xfrm>
          <a:prstGeom prst="rect">
            <a:avLst/>
          </a:prstGeom>
          <a:noFill/>
          <a:ln>
            <a:noFill/>
          </a:ln>
        </p:spPr>
      </p:pic>
      <p:sp>
        <p:nvSpPr>
          <p:cNvPr id="268" name="Google Shape;268;p20"/>
          <p:cNvSpPr txBox="1"/>
          <p:nvPr/>
        </p:nvSpPr>
        <p:spPr>
          <a:xfrm>
            <a:off x="711182" y="558786"/>
            <a:ext cx="4444888" cy="25399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  <a:defRPr>
                <a:solidFill/>
              </a:defRPr>
            </a:pPr>
            <a:r>
              <a:rPr b="1" i="0" lang="en-US" sz="1300">
                <a:solidFill>
                  <a:srgbClr val="F4EFE6"/>
                </a:solidFill>
                <a:latin typeface="Space Grotesk"/>
                <a:ea typeface="Space Grotesk"/>
                <a:cs typeface="Space Grotesk"/>
                <a:sym typeface="Space Grotesk"/>
              </a:rPr>
              <a:t>✱  BFWAI/HACK 26</a:t>
            </a:r>
            <a:endParaRPr/>
          </a:p>
        </p:txBody>
      </p:sp>
      <p:sp>
        <p:nvSpPr>
          <p:cNvPr id="269" name="Google Shape;269;p20"/>
          <p:cNvSpPr txBox="1"/>
          <p:nvPr/>
        </p:nvSpPr>
        <p:spPr>
          <a:xfrm>
            <a:off x="6984825" y="571485"/>
            <a:ext cx="4495687" cy="25399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  <a:defRPr>
                <a:solidFill/>
              </a:defRPr>
            </a:pPr>
            <a:r>
              <a:rPr b="0" i="0" lang="en-US" sz="1100">
                <a:solidFill>
                  <a:srgbClr val="E1E6F0"/>
                </a:solidFill>
                <a:latin typeface="Space Grotesk"/>
                <a:ea typeface="Space Grotesk"/>
                <a:cs typeface="Space Grotesk"/>
                <a:sym typeface="Space Grotesk"/>
              </a:rPr>
              <a:t>06 · Baseline &amp; evaluation</a:t>
            </a:r>
            <a:endParaRPr/>
          </a:p>
        </p:txBody>
      </p:sp>
      <p:cxnSp>
        <p:nvCxnSpPr>
          <p:cNvPr id="270" name="Google Shape;270;p20"/>
          <p:cNvCxnSpPr/>
          <p:nvPr/>
        </p:nvCxnSpPr>
        <p:spPr>
          <a:xfrm>
            <a:off x="711182" y="6286342"/>
            <a:ext cx="10769330" cy="0"/>
          </a:xfrm>
          <a:prstGeom prst="straightConnector1">
            <a:avLst/>
          </a:prstGeom>
          <a:noFill/>
          <a:ln cap="flat" cmpd="sng" w="9525">
            <a:solidFill>
              <a:srgbClr val="332D25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sp>
        <p:nvSpPr>
          <p:cNvPr id="271" name="Google Shape;271;p20"/>
          <p:cNvSpPr txBox="1"/>
          <p:nvPr/>
        </p:nvSpPr>
        <p:spPr>
          <a:xfrm>
            <a:off x="711182" y="6413339"/>
            <a:ext cx="5714857" cy="22859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  <a:defRPr>
                <a:solidFill/>
              </a:defRPr>
            </a:pPr>
            <a:r>
              <a:rPr b="1" i="0" lang="en-US" sz="1100">
                <a:solidFill>
                  <a:srgbClr val="F4EFE6"/>
                </a:solidFill>
                <a:latin typeface="Space Grotesk"/>
                <a:ea typeface="Space Grotesk"/>
                <a:cs typeface="Space Grotesk"/>
                <a:sym typeface="Space Grotesk"/>
              </a:rPr>
              <a:t>buildfastwithai.com/hackathon ↗</a:t>
            </a:r>
            <a:endParaRPr/>
          </a:p>
        </p:txBody>
      </p:sp>
      <p:sp>
        <p:nvSpPr>
          <p:cNvPr id="272" name="Google Shape;272;p20"/>
          <p:cNvSpPr txBox="1"/>
          <p:nvPr/>
        </p:nvSpPr>
        <p:spPr>
          <a:xfrm>
            <a:off x="8254793" y="6426039"/>
            <a:ext cx="3225719" cy="22859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  <a:defRPr>
                <a:solidFill/>
              </a:defRPr>
            </a:pPr>
            <a:r>
              <a:rPr b="0" i="0" lang="en-US" sz="900">
                <a:solidFill>
                  <a:srgbClr val="E1E6F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08 / 10</a:t>
            </a:r>
            <a:endParaRPr/>
          </a:p>
        </p:txBody>
      </p:sp>
      <p:sp>
        <p:nvSpPr>
          <p:cNvPr id="273" name="Google Shape;273;p20"/>
          <p:cNvSpPr txBox="1"/>
          <p:nvPr/>
        </p:nvSpPr>
        <p:spPr>
          <a:xfrm>
            <a:off x="711182" y="1206469"/>
            <a:ext cx="5714857" cy="19049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  <a:defRPr>
                <a:solidFill/>
              </a:defRPr>
            </a:pPr>
            <a:r>
              <a:rPr b="1" i="0" lang="en-US" sz="950">
                <a:solidFill>
                  <a:srgbClr val="F2B632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BASELINE &amp; EVALUATION</a:t>
            </a:r>
            <a:endParaRPr/>
          </a:p>
        </p:txBody>
      </p:sp>
      <p:sp>
        <p:nvSpPr>
          <p:cNvPr id="274" name="Google Shape;274;p20"/>
          <p:cNvSpPr txBox="1"/>
          <p:nvPr/>
        </p:nvSpPr>
        <p:spPr>
          <a:xfrm>
            <a:off x="711182" y="1492212"/>
            <a:ext cx="10794730" cy="95247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/>
              </a:defRPr>
            </a:pPr>
            <a:r>
              <a:rPr b="0" i="0" lang="en-US" sz="5000">
                <a:solidFill>
                  <a:srgbClr val="F4EFE6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How we'll </a:t>
            </a:r>
            <a:r>
              <a:rPr b="0" i="1" lang="en-US" sz="5000">
                <a:solidFill>
                  <a:srgbClr val="FFD27A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prove it works</a:t>
            </a:r>
            <a:endParaRPr/>
          </a:p>
        </p:txBody>
      </p:sp>
      <p:sp>
        <p:nvSpPr>
          <p:cNvPr id="275" name="Google Shape;275;p20"/>
          <p:cNvSpPr/>
          <p:nvPr/>
        </p:nvSpPr>
        <p:spPr>
          <a:xfrm>
            <a:off x="711182" y="2539936"/>
            <a:ext cx="5206869" cy="1714457"/>
          </a:xfrm>
          <a:prstGeom prst="roundRect">
            <a:avLst>
              <a:gd fmla="val 6000" name="adj"/>
            </a:avLst>
          </a:prstGeom>
          <a:solidFill>
            <a:srgbClr val="17130E"/>
          </a:solidFill>
          <a:ln cap="flat" cmpd="sng" w="12700">
            <a:solidFill>
              <a:srgbClr val="332D2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6" name="Google Shape;276;p20"/>
          <p:cNvSpPr txBox="1"/>
          <p:nvPr/>
        </p:nvSpPr>
        <p:spPr>
          <a:xfrm>
            <a:off x="914377" y="2717732"/>
            <a:ext cx="4825879" cy="19049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  <a:defRPr>
                <a:solidFill/>
              </a:defRPr>
            </a:pPr>
            <a:r>
              <a:rPr b="1" i="0" lang="en-US" sz="950">
                <a:solidFill>
                  <a:srgbClr val="F2B632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TODAY · WITHOUT YOUR SYSTEM</a:t>
            </a:r>
            <a:endParaRPr/>
          </a:p>
        </p:txBody>
      </p:sp>
      <p:sp>
        <p:nvSpPr>
          <p:cNvPr id="277" name="Google Shape;277;p20"/>
          <p:cNvSpPr txBox="1"/>
          <p:nvPr/>
        </p:nvSpPr>
        <p:spPr>
          <a:xfrm>
            <a:off x="914377" y="2984425"/>
            <a:ext cx="4800479" cy="50798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  <a:defRPr sz="1700" b="1">
                <a:solidFill>
                  <a:srgbClr val="FFFFFF"/>
                </a:solidFill>
              </a:defRPr>
            </a:pPr>
            <a:r>
              <a:rPr sz="1700" b="1">
                <a:solidFill>
                  <a:srgbClr val="FFFFFF"/>
                </a:solidFill>
              </a:rPr>
              <a:t>3 to 5 Days (50.0% Accuracy)</a:t>
            </a:r>
            <a:endParaRPr/>
          </a:p>
        </p:txBody>
      </p:sp>
      <p:sp>
        <p:nvSpPr>
          <p:cNvPr id="278" name="Google Shape;278;p20"/>
          <p:cNvSpPr txBox="1"/>
          <p:nvPr/>
        </p:nvSpPr>
        <p:spPr>
          <a:xfrm>
            <a:off x="914377" y="3619409"/>
            <a:ext cx="4800479" cy="57148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F8FAFC"/>
                </a:solidFill>
              </a:defRPr>
            </a:pPr>
            <a:r>
              <a:rPr sz="1200">
                <a:solidFill>
                  <a:srgbClr val="F8FAFC"/>
                </a:solidFill>
              </a:rPr>
              <a:t>Manual committee review takes 3–5 days per tender. Naive keyword baselines score only 50.0% accuracy, missing expired certificates, fake GSTINs, and turnover shortfalls.</a:t>
            </a:r>
            <a:endParaRPr/>
          </a:p>
        </p:txBody>
      </p:sp>
      <p:sp>
        <p:nvSpPr>
          <p:cNvPr id="279" name="Google Shape;279;p20"/>
          <p:cNvSpPr/>
          <p:nvPr/>
        </p:nvSpPr>
        <p:spPr>
          <a:xfrm>
            <a:off x="6273643" y="2539936"/>
            <a:ext cx="5206869" cy="1714457"/>
          </a:xfrm>
          <a:prstGeom prst="roundRect">
            <a:avLst>
              <a:gd fmla="val 6000" name="adj"/>
            </a:avLst>
          </a:prstGeom>
          <a:solidFill>
            <a:srgbClr val="2A2110"/>
          </a:solidFill>
          <a:ln cap="flat" cmpd="sng" w="12700">
            <a:solidFill>
              <a:srgbClr val="8A682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0" name="Google Shape;280;p20"/>
          <p:cNvSpPr txBox="1"/>
          <p:nvPr/>
        </p:nvSpPr>
        <p:spPr>
          <a:xfrm>
            <a:off x="6476838" y="2717732"/>
            <a:ext cx="4825879" cy="19049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  <a:defRPr>
                <a:solidFill/>
              </a:defRPr>
            </a:pPr>
            <a:r>
              <a:rPr b="1" i="0" lang="en-US" sz="950">
                <a:solidFill>
                  <a:srgbClr val="F2B632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TARGET · WITH YOUR SYSTEM</a:t>
            </a:r>
            <a:endParaRPr/>
          </a:p>
        </p:txBody>
      </p:sp>
      <p:sp>
        <p:nvSpPr>
          <p:cNvPr id="281" name="Google Shape;281;p20"/>
          <p:cNvSpPr txBox="1"/>
          <p:nvPr/>
        </p:nvSpPr>
        <p:spPr>
          <a:xfrm>
            <a:off x="6476838" y="2984425"/>
            <a:ext cx="4800479" cy="50798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  <a:defRPr sz="1700" b="1">
                <a:solidFill>
                  <a:srgbClr val="FFD778"/>
                </a:solidFill>
              </a:defRPr>
            </a:pPr>
            <a:r>
              <a:rPr sz="1700" b="1">
                <a:solidFill>
                  <a:srgbClr val="FFD778"/>
                </a:solidFill>
              </a:rPr>
              <a:t>1.2 Seconds (100.0% Accuracy)</a:t>
            </a:r>
            <a:endParaRPr/>
          </a:p>
        </p:txBody>
      </p:sp>
      <p:sp>
        <p:nvSpPr>
          <p:cNvPr id="282" name="Google Shape;282;p20"/>
          <p:cNvSpPr txBox="1"/>
          <p:nvPr/>
        </p:nvSpPr>
        <p:spPr>
          <a:xfrm>
            <a:off x="6476838" y="3619409"/>
            <a:ext cx="4800479" cy="57148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F8FAFC"/>
                </a:solidFill>
              </a:defRPr>
            </a:pPr>
            <a:r>
              <a:rPr sz="1200">
                <a:solidFill>
                  <a:srgbClr val="F8FAFC"/>
                </a:solidFill>
              </a:rPr>
              <a:t>TenderPulse AI cuts review time to 1.2s while achieving 100.0% decision accuracy across all 13 benchmark dossiers (+50.0% gain, zero false positives, 98%+ confidence).</a:t>
            </a:r>
            <a:endParaRPr/>
          </a:p>
        </p:txBody>
      </p:sp>
      <p:sp>
        <p:nvSpPr>
          <p:cNvPr id="283" name="Google Shape;283;p20"/>
          <p:cNvSpPr txBox="1"/>
          <p:nvPr/>
        </p:nvSpPr>
        <p:spPr>
          <a:xfrm>
            <a:off x="5918052" y="3206669"/>
            <a:ext cx="355591" cy="3809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  <a:defRPr>
                <a:solidFill/>
              </a:defRPr>
            </a:pPr>
            <a:r>
              <a:rPr b="0" i="0" lang="en-US" sz="3000">
                <a:solidFill>
                  <a:srgbClr val="F2B632"/>
                </a:solidFill>
                <a:latin typeface="Space Grotesk"/>
                <a:ea typeface="Space Grotesk"/>
                <a:cs typeface="Space Grotesk"/>
                <a:sym typeface="Space Grotesk"/>
              </a:rPr>
              <a:t>→</a:t>
            </a:r>
            <a:endParaRPr/>
          </a:p>
        </p:txBody>
      </p:sp>
      <p:sp>
        <p:nvSpPr>
          <p:cNvPr id="284" name="Google Shape;284;p20"/>
          <p:cNvSpPr/>
          <p:nvPr/>
        </p:nvSpPr>
        <p:spPr>
          <a:xfrm>
            <a:off x="711182" y="4508387"/>
            <a:ext cx="10769330" cy="1460463"/>
          </a:xfrm>
          <a:prstGeom prst="roundRect">
            <a:avLst>
              <a:gd fmla="val 6000" name="adj"/>
            </a:avLst>
          </a:prstGeom>
          <a:solidFill>
            <a:srgbClr val="17130E"/>
          </a:solidFill>
          <a:ln cap="flat" cmpd="sng" w="12700">
            <a:solidFill>
              <a:srgbClr val="332D2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5" name="Google Shape;285;p20"/>
          <p:cNvSpPr txBox="1"/>
          <p:nvPr/>
        </p:nvSpPr>
        <p:spPr>
          <a:xfrm>
            <a:off x="914377" y="4686182"/>
            <a:ext cx="10362940" cy="19049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  <a:defRPr>
                <a:solidFill/>
              </a:defRPr>
            </a:pPr>
            <a:r>
              <a:rPr b="1" i="0" lang="en-US" sz="950">
                <a:solidFill>
                  <a:srgbClr val="F2B632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HOW YOU'LL EVALUATE IT</a:t>
            </a:r>
            <a:endParaRPr/>
          </a:p>
        </p:txBody>
      </p:sp>
      <p:sp>
        <p:nvSpPr>
          <p:cNvPr id="286" name="Google Shape;286;p20"/>
          <p:cNvSpPr txBox="1"/>
          <p:nvPr/>
        </p:nvSpPr>
        <p:spPr>
          <a:xfrm>
            <a:off x="914377" y="4952876"/>
            <a:ext cx="10362940" cy="85087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F8FAFC"/>
                </a:solidFill>
              </a:defRPr>
            </a:pPr>
            <a:r>
              <a:rPr sz="1200">
                <a:solidFill>
                  <a:srgbClr val="F8FAFC"/>
                </a:solidFill>
              </a:rPr>
              <a:t>Evaluated on 13 diverse bid dossiers: 5 fully compliant passes, 6 failure modes (expired ISO, turnover deficit, invalid GSTIN checksum, EMD shortfall, compound failure), and 2 conditional MSME edge cases.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top.png" id="291" name="Google Shape;291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1695" cy="6857828"/>
          </a:xfrm>
          <a:prstGeom prst="rect">
            <a:avLst/>
          </a:prstGeom>
          <a:noFill/>
          <a:ln>
            <a:noFill/>
          </a:ln>
        </p:spPr>
      </p:pic>
      <p:sp>
        <p:nvSpPr>
          <p:cNvPr id="292" name="Google Shape;292;p21"/>
          <p:cNvSpPr txBox="1"/>
          <p:nvPr/>
        </p:nvSpPr>
        <p:spPr>
          <a:xfrm>
            <a:off x="711182" y="558786"/>
            <a:ext cx="4444888" cy="25399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  <a:defRPr>
                <a:solidFill/>
              </a:defRPr>
            </a:pPr>
            <a:r>
              <a:rPr b="1" i="0" lang="en-US" sz="1300">
                <a:solidFill>
                  <a:srgbClr val="F4EFE6"/>
                </a:solidFill>
                <a:latin typeface="Space Grotesk"/>
                <a:ea typeface="Space Grotesk"/>
                <a:cs typeface="Space Grotesk"/>
                <a:sym typeface="Space Grotesk"/>
              </a:rPr>
              <a:t>✱  BFWAI/HACK 26</a:t>
            </a:r>
            <a:endParaRPr/>
          </a:p>
        </p:txBody>
      </p:sp>
      <p:sp>
        <p:nvSpPr>
          <p:cNvPr id="293" name="Google Shape;293;p21"/>
          <p:cNvSpPr txBox="1"/>
          <p:nvPr/>
        </p:nvSpPr>
        <p:spPr>
          <a:xfrm>
            <a:off x="6984825" y="571485"/>
            <a:ext cx="4495687" cy="25399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  <a:defRPr>
                <a:solidFill/>
              </a:defRPr>
            </a:pPr>
            <a:r>
              <a:rPr b="0" i="0" lang="en-US" sz="1100">
                <a:solidFill>
                  <a:srgbClr val="E1E6F0"/>
                </a:solidFill>
                <a:latin typeface="Space Grotesk"/>
                <a:ea typeface="Space Grotesk"/>
                <a:cs typeface="Space Grotesk"/>
                <a:sym typeface="Space Grotesk"/>
              </a:rPr>
              <a:t>07 · Team</a:t>
            </a:r>
            <a:endParaRPr/>
          </a:p>
        </p:txBody>
      </p:sp>
      <p:cxnSp>
        <p:nvCxnSpPr>
          <p:cNvPr id="294" name="Google Shape;294;p21"/>
          <p:cNvCxnSpPr/>
          <p:nvPr/>
        </p:nvCxnSpPr>
        <p:spPr>
          <a:xfrm>
            <a:off x="711182" y="6286342"/>
            <a:ext cx="10769330" cy="0"/>
          </a:xfrm>
          <a:prstGeom prst="straightConnector1">
            <a:avLst/>
          </a:prstGeom>
          <a:noFill/>
          <a:ln cap="flat" cmpd="sng" w="9525">
            <a:solidFill>
              <a:srgbClr val="332D25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sp>
        <p:nvSpPr>
          <p:cNvPr id="295" name="Google Shape;295;p21"/>
          <p:cNvSpPr txBox="1"/>
          <p:nvPr/>
        </p:nvSpPr>
        <p:spPr>
          <a:xfrm>
            <a:off x="711182" y="6413339"/>
            <a:ext cx="5714857" cy="22859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  <a:defRPr>
                <a:solidFill/>
              </a:defRPr>
            </a:pPr>
            <a:r>
              <a:rPr b="1" i="0" lang="en-US" sz="1100">
                <a:solidFill>
                  <a:srgbClr val="F4EFE6"/>
                </a:solidFill>
                <a:latin typeface="Space Grotesk"/>
                <a:ea typeface="Space Grotesk"/>
                <a:cs typeface="Space Grotesk"/>
                <a:sym typeface="Space Grotesk"/>
              </a:rPr>
              <a:t>buildfastwithai.com/hackathon ↗</a:t>
            </a:r>
            <a:endParaRPr/>
          </a:p>
        </p:txBody>
      </p:sp>
      <p:sp>
        <p:nvSpPr>
          <p:cNvPr id="296" name="Google Shape;296;p21"/>
          <p:cNvSpPr txBox="1"/>
          <p:nvPr/>
        </p:nvSpPr>
        <p:spPr>
          <a:xfrm>
            <a:off x="8254793" y="6426039"/>
            <a:ext cx="3225719" cy="22859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  <a:defRPr>
                <a:solidFill/>
              </a:defRPr>
            </a:pPr>
            <a:r>
              <a:rPr b="0" i="0" lang="en-US" sz="900">
                <a:solidFill>
                  <a:srgbClr val="E1E6F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09 / 10</a:t>
            </a:r>
            <a:endParaRPr/>
          </a:p>
        </p:txBody>
      </p:sp>
      <p:sp>
        <p:nvSpPr>
          <p:cNvPr id="297" name="Google Shape;297;p21"/>
          <p:cNvSpPr txBox="1"/>
          <p:nvPr/>
        </p:nvSpPr>
        <p:spPr>
          <a:xfrm>
            <a:off x="711182" y="1206469"/>
            <a:ext cx="5714857" cy="19049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  <a:defRPr>
                <a:solidFill/>
              </a:defRPr>
            </a:pPr>
            <a:r>
              <a:rPr b="1" i="0" lang="en-US" sz="950">
                <a:solidFill>
                  <a:srgbClr val="F2B632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TEAM</a:t>
            </a:r>
            <a:endParaRPr/>
          </a:p>
        </p:txBody>
      </p:sp>
      <p:sp>
        <p:nvSpPr>
          <p:cNvPr id="298" name="Google Shape;298;p21"/>
          <p:cNvSpPr txBox="1"/>
          <p:nvPr/>
        </p:nvSpPr>
        <p:spPr>
          <a:xfrm>
            <a:off x="711182" y="1492212"/>
            <a:ext cx="10794730" cy="95247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FFFFFF"/>
                </a:solidFill>
              </a:defRPr>
            </a:pPr>
            <a:r>
              <a:rPr sz="2800" b="1">
                <a:solidFill>
                  <a:srgbClr val="FFFFFF"/>
                </a:solidFill>
              </a:rPr>
              <a:t>TeAm AsPirE</a:t>
            </a:r>
            <a:endParaRPr/>
          </a:p>
        </p:txBody>
      </p:sp>
      <p:sp>
        <p:nvSpPr>
          <p:cNvPr id="299" name="Google Shape;299;p21"/>
          <p:cNvSpPr/>
          <p:nvPr/>
        </p:nvSpPr>
        <p:spPr>
          <a:xfrm>
            <a:off x="711182" y="2666933"/>
            <a:ext cx="3428914" cy="3174920"/>
          </a:xfrm>
          <a:prstGeom prst="roundRect">
            <a:avLst>
              <a:gd fmla="val 6000" name="adj"/>
            </a:avLst>
          </a:prstGeom>
          <a:solidFill>
            <a:srgbClr val="17130E"/>
          </a:solidFill>
          <a:ln cap="flat" cmpd="sng" w="12700">
            <a:solidFill>
              <a:srgbClr val="332D2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0" name="Google Shape;300;p21"/>
          <p:cNvSpPr txBox="1"/>
          <p:nvPr/>
        </p:nvSpPr>
        <p:spPr>
          <a:xfrm>
            <a:off x="939776" y="2870128"/>
            <a:ext cx="2984425" cy="19049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  <a:defRPr>
                <a:solidFill/>
              </a:defRPr>
            </a:pPr>
            <a:r>
              <a:rPr b="1" i="0" lang="en-US" sz="950">
                <a:solidFill>
                  <a:srgbClr val="F2B632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MEMBER 01</a:t>
            </a:r>
            <a:endParaRPr/>
          </a:p>
        </p:txBody>
      </p:sp>
      <p:sp>
        <p:nvSpPr>
          <p:cNvPr id="301" name="Google Shape;301;p21"/>
          <p:cNvSpPr txBox="1"/>
          <p:nvPr/>
        </p:nvSpPr>
        <p:spPr>
          <a:xfrm>
            <a:off x="939776" y="3174920"/>
            <a:ext cx="2984425" cy="4444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  <a:defRPr sz="1700" b="1">
                <a:solidFill>
                  <a:srgbClr val="FFD778"/>
                </a:solidFill>
              </a:defRPr>
            </a:pPr>
            <a:r>
              <a:rPr sz="1700" b="1">
                <a:solidFill>
                  <a:srgbClr val="FFD778"/>
                </a:solidFill>
              </a:rPr>
              <a:t>Darshan S</a:t>
            </a:r>
            <a:endParaRPr/>
          </a:p>
        </p:txBody>
      </p:sp>
      <p:sp>
        <p:nvSpPr>
          <p:cNvPr id="302" name="Google Shape;302;p21"/>
          <p:cNvSpPr txBox="1"/>
          <p:nvPr/>
        </p:nvSpPr>
        <p:spPr>
          <a:xfrm>
            <a:off x="939776" y="3873403"/>
            <a:ext cx="1015974" cy="25399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  <a:defRPr>
                <a:solidFill/>
              </a:defRPr>
            </a:pPr>
            <a:r>
              <a:rPr b="1" i="0" lang="en-US" sz="850">
                <a:solidFill>
                  <a:srgbClr val="F5B937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COLLEGE</a:t>
            </a:r>
            <a:endParaRPr/>
          </a:p>
        </p:txBody>
      </p:sp>
      <p:sp>
        <p:nvSpPr>
          <p:cNvPr id="303" name="Google Shape;303;p21"/>
          <p:cNvSpPr txBox="1"/>
          <p:nvPr/>
        </p:nvSpPr>
        <p:spPr>
          <a:xfrm>
            <a:off x="1981150" y="3848003"/>
            <a:ext cx="1968450" cy="3809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F8FAFC"/>
                </a:solidFill>
              </a:defRPr>
            </a:pPr>
            <a:r>
              <a:rPr sz="1200">
                <a:solidFill>
                  <a:srgbClr val="F8FAFC"/>
                </a:solidFill>
              </a:rPr>
              <a:t>Engineering &amp; Technology</a:t>
            </a:r>
            <a:endParaRPr/>
          </a:p>
        </p:txBody>
      </p:sp>
      <p:sp>
        <p:nvSpPr>
          <p:cNvPr id="304" name="Google Shape;304;p21"/>
          <p:cNvSpPr txBox="1"/>
          <p:nvPr/>
        </p:nvSpPr>
        <p:spPr>
          <a:xfrm>
            <a:off x="939776" y="4330591"/>
            <a:ext cx="1015974" cy="25399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  <a:defRPr>
                <a:solidFill/>
              </a:defRPr>
            </a:pPr>
            <a:r>
              <a:rPr b="1" i="0" lang="en-US" sz="850">
                <a:solidFill>
                  <a:srgbClr val="F5B937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YEAR</a:t>
            </a:r>
            <a:endParaRPr/>
          </a:p>
        </p:txBody>
      </p:sp>
      <p:sp>
        <p:nvSpPr>
          <p:cNvPr id="305" name="Google Shape;305;p21"/>
          <p:cNvSpPr txBox="1"/>
          <p:nvPr/>
        </p:nvSpPr>
        <p:spPr>
          <a:xfrm>
            <a:off x="1981150" y="4305192"/>
            <a:ext cx="1968450" cy="3809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F8FAFC"/>
                </a:solidFill>
              </a:defRPr>
            </a:pPr>
            <a:r>
              <a:rPr sz="1200">
                <a:solidFill>
                  <a:srgbClr val="F8FAFC"/>
                </a:solidFill>
              </a:rPr>
              <a:t>Final Year (4th Year B.E.)</a:t>
            </a:r>
            <a:endParaRPr/>
          </a:p>
        </p:txBody>
      </p:sp>
      <p:sp>
        <p:nvSpPr>
          <p:cNvPr id="306" name="Google Shape;306;p21"/>
          <p:cNvSpPr txBox="1"/>
          <p:nvPr/>
        </p:nvSpPr>
        <p:spPr>
          <a:xfrm>
            <a:off x="939776" y="4787780"/>
            <a:ext cx="1015974" cy="25399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  <a:defRPr>
                <a:solidFill/>
              </a:defRPr>
            </a:pPr>
            <a:r>
              <a:rPr b="1" i="0" lang="en-US" sz="850">
                <a:solidFill>
                  <a:srgbClr val="F5B937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ROLE</a:t>
            </a:r>
            <a:endParaRPr/>
          </a:p>
        </p:txBody>
      </p:sp>
      <p:sp>
        <p:nvSpPr>
          <p:cNvPr id="307" name="Google Shape;307;p21"/>
          <p:cNvSpPr txBox="1"/>
          <p:nvPr/>
        </p:nvSpPr>
        <p:spPr>
          <a:xfrm>
            <a:off x="1981150" y="4762380"/>
            <a:ext cx="1968450" cy="3809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  <a:defRPr sz="1100">
                <a:solidFill>
                  <a:srgbClr val="F8FAFC"/>
                </a:solidFill>
              </a:defRPr>
            </a:pPr>
            <a:r>
              <a:rPr sz="1100">
                <a:solidFill>
                  <a:srgbClr val="F8FAFC"/>
                </a:solidFill>
              </a:rPr>
              <a:t>Full-Stack AI Architecture, Solvers &amp; Dashboard</a:t>
            </a:r>
            <a:endParaRPr/>
          </a:p>
        </p:txBody>
      </p:sp>
      <p:sp>
        <p:nvSpPr>
          <p:cNvPr id="308" name="Google Shape;308;p21"/>
          <p:cNvSpPr txBox="1"/>
          <p:nvPr/>
        </p:nvSpPr>
        <p:spPr>
          <a:xfrm>
            <a:off x="939776" y="5244968"/>
            <a:ext cx="1015974" cy="25399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  <a:defRPr>
                <a:solidFill/>
              </a:defRPr>
            </a:pPr>
            <a:r>
              <a:rPr b="1" i="0" lang="en-US" sz="850">
                <a:solidFill>
                  <a:srgbClr val="F5B937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LINKEDIN</a:t>
            </a:r>
            <a:endParaRPr/>
          </a:p>
        </p:txBody>
      </p:sp>
      <p:sp>
        <p:nvSpPr>
          <p:cNvPr id="309" name="Google Shape;309;p21"/>
          <p:cNvSpPr txBox="1"/>
          <p:nvPr/>
        </p:nvSpPr>
        <p:spPr>
          <a:xfrm>
            <a:off x="1981150" y="5219569"/>
            <a:ext cx="1968450" cy="3809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  <a:defRPr sz="1100">
                <a:solidFill>
                  <a:srgbClr val="FFD778"/>
                </a:solidFill>
              </a:defRPr>
            </a:pPr>
            <a:r>
              <a:rPr sz="1100">
                <a:solidFill>
                  <a:srgbClr val="FFD778"/>
                </a:solidFill>
              </a:rPr>
              <a:t>https://github.com/darshan-s-44</a:t>
            </a:r>
            <a:endParaRPr/>
          </a:p>
        </p:txBody>
      </p:sp>
      <p:sp>
        <p:nvSpPr>
          <p:cNvPr id="310" name="Google Shape;310;p21"/>
          <p:cNvSpPr/>
          <p:nvPr/>
        </p:nvSpPr>
        <p:spPr>
          <a:xfrm>
            <a:off x="4381390" y="2666933"/>
            <a:ext cx="3428914" cy="3174920"/>
          </a:xfrm>
          <a:prstGeom prst="roundRect">
            <a:avLst>
              <a:gd fmla="val 6000" name="adj"/>
            </a:avLst>
          </a:prstGeom>
          <a:solidFill>
            <a:srgbClr val="17130E"/>
          </a:solidFill>
          <a:ln cap="flat" cmpd="sng" w="12700">
            <a:solidFill>
              <a:srgbClr val="332D2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1" name="Google Shape;311;p21"/>
          <p:cNvSpPr txBox="1"/>
          <p:nvPr/>
        </p:nvSpPr>
        <p:spPr>
          <a:xfrm>
            <a:off x="4609984" y="2870128"/>
            <a:ext cx="2984425" cy="19049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  <a:defRPr>
                <a:solidFill/>
              </a:defRPr>
            </a:pPr>
            <a:r>
              <a:rPr b="1" i="0" lang="en-US" sz="950">
                <a:solidFill>
                  <a:srgbClr val="F2B632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MEMBER 02</a:t>
            </a:r>
            <a:endParaRPr/>
          </a:p>
        </p:txBody>
      </p:sp>
      <p:sp>
        <p:nvSpPr>
          <p:cNvPr id="312" name="Google Shape;312;p21"/>
          <p:cNvSpPr txBox="1"/>
          <p:nvPr/>
        </p:nvSpPr>
        <p:spPr>
          <a:xfrm>
            <a:off x="4609984" y="3174920"/>
            <a:ext cx="2984425" cy="4444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  <a:defRPr sz="1700" b="1">
                <a:solidFill>
                  <a:srgbClr val="FFD778"/>
                </a:solidFill>
              </a:defRPr>
            </a:pPr>
            <a:r>
              <a:rPr sz="1700" b="1">
                <a:solidFill>
                  <a:srgbClr val="FFD778"/>
                </a:solidFill>
              </a:rPr>
              <a:t>AI Decision Agent</a:t>
            </a:r>
            <a:endParaRPr/>
          </a:p>
        </p:txBody>
      </p:sp>
      <p:sp>
        <p:nvSpPr>
          <p:cNvPr id="313" name="Google Shape;313;p21"/>
          <p:cNvSpPr txBox="1"/>
          <p:nvPr/>
        </p:nvSpPr>
        <p:spPr>
          <a:xfrm>
            <a:off x="4609984" y="3873403"/>
            <a:ext cx="1015974" cy="25399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  <a:defRPr>
                <a:solidFill/>
              </a:defRPr>
            </a:pPr>
            <a:r>
              <a:rPr b="1" i="0" lang="en-US" sz="850">
                <a:solidFill>
                  <a:srgbClr val="F5B937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COLLEGE</a:t>
            </a:r>
            <a:endParaRPr/>
          </a:p>
        </p:txBody>
      </p:sp>
      <p:sp>
        <p:nvSpPr>
          <p:cNvPr id="314" name="Google Shape;314;p21"/>
          <p:cNvSpPr txBox="1"/>
          <p:nvPr/>
        </p:nvSpPr>
        <p:spPr>
          <a:xfrm>
            <a:off x="5651358" y="3848003"/>
            <a:ext cx="1968450" cy="3809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F8FAFC"/>
                </a:solidFill>
              </a:defRPr>
            </a:pPr>
            <a:r>
              <a:rPr sz="1200">
                <a:solidFill>
                  <a:srgbClr val="F8FAFC"/>
                </a:solidFill>
              </a:rPr>
              <a:t>TenderPulse Core</a:t>
            </a:r>
            <a:endParaRPr/>
          </a:p>
        </p:txBody>
      </p:sp>
      <p:sp>
        <p:nvSpPr>
          <p:cNvPr id="315" name="Google Shape;315;p21"/>
          <p:cNvSpPr txBox="1"/>
          <p:nvPr/>
        </p:nvSpPr>
        <p:spPr>
          <a:xfrm>
            <a:off x="4609984" y="4330591"/>
            <a:ext cx="1015974" cy="25399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  <a:defRPr>
                <a:solidFill/>
              </a:defRPr>
            </a:pPr>
            <a:r>
              <a:rPr b="1" i="0" lang="en-US" sz="850">
                <a:solidFill>
                  <a:srgbClr val="F5B937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YEAR</a:t>
            </a:r>
            <a:endParaRPr/>
          </a:p>
        </p:txBody>
      </p:sp>
      <p:sp>
        <p:nvSpPr>
          <p:cNvPr id="316" name="Google Shape;316;p21"/>
          <p:cNvSpPr txBox="1"/>
          <p:nvPr/>
        </p:nvSpPr>
        <p:spPr>
          <a:xfrm>
            <a:off x="5651358" y="4305192"/>
            <a:ext cx="1968450" cy="3809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F8FAFC"/>
                </a:solidFill>
              </a:defRPr>
            </a:pPr>
            <a:r>
              <a:rPr sz="1200">
                <a:solidFill>
                  <a:srgbClr val="F8FAFC"/>
                </a:solidFill>
              </a:rPr>
              <a:t>Production Layer</a:t>
            </a:r>
            <a:endParaRPr/>
          </a:p>
        </p:txBody>
      </p:sp>
      <p:sp>
        <p:nvSpPr>
          <p:cNvPr id="317" name="Google Shape;317;p21"/>
          <p:cNvSpPr txBox="1"/>
          <p:nvPr/>
        </p:nvSpPr>
        <p:spPr>
          <a:xfrm>
            <a:off x="4609984" y="4787780"/>
            <a:ext cx="1015974" cy="25399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  <a:defRPr>
                <a:solidFill/>
              </a:defRPr>
            </a:pPr>
            <a:r>
              <a:rPr b="1" i="0" lang="en-US" sz="850">
                <a:solidFill>
                  <a:srgbClr val="F5B937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ROLE</a:t>
            </a:r>
            <a:endParaRPr/>
          </a:p>
        </p:txBody>
      </p:sp>
      <p:sp>
        <p:nvSpPr>
          <p:cNvPr id="318" name="Google Shape;318;p21"/>
          <p:cNvSpPr txBox="1"/>
          <p:nvPr/>
        </p:nvSpPr>
        <p:spPr>
          <a:xfrm>
            <a:off x="5651358" y="4762380"/>
            <a:ext cx="1968450" cy="3809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  <a:defRPr sz="1100">
                <a:solidFill>
                  <a:srgbClr val="F8FAFC"/>
                </a:solidFill>
              </a:defRPr>
            </a:pPr>
            <a:r>
              <a:rPr sz="1100">
                <a:solidFill>
                  <a:srgbClr val="F8FAFC"/>
                </a:solidFill>
              </a:rPr>
              <a:t>Multi-Tool Rule Solvers &amp; Layout Ingestion</a:t>
            </a:r>
            <a:endParaRPr/>
          </a:p>
        </p:txBody>
      </p:sp>
      <p:sp>
        <p:nvSpPr>
          <p:cNvPr id="319" name="Google Shape;319;p21"/>
          <p:cNvSpPr txBox="1"/>
          <p:nvPr/>
        </p:nvSpPr>
        <p:spPr>
          <a:xfrm>
            <a:off x="4609984" y="5244968"/>
            <a:ext cx="1015974" cy="25399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  <a:defRPr>
                <a:solidFill/>
              </a:defRPr>
            </a:pPr>
            <a:r>
              <a:rPr b="1" i="0" lang="en-US" sz="850">
                <a:solidFill>
                  <a:srgbClr val="F5B937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LINKEDIN</a:t>
            </a:r>
            <a:endParaRPr/>
          </a:p>
        </p:txBody>
      </p:sp>
      <p:sp>
        <p:nvSpPr>
          <p:cNvPr id="320" name="Google Shape;320;p21"/>
          <p:cNvSpPr txBox="1"/>
          <p:nvPr/>
        </p:nvSpPr>
        <p:spPr>
          <a:xfrm>
            <a:off x="5651358" y="5219569"/>
            <a:ext cx="1968450" cy="3809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  <a:defRPr sz="1100">
                <a:solidFill>
                  <a:srgbClr val="FFD778"/>
                </a:solidFill>
              </a:defRPr>
            </a:pPr>
            <a:r>
              <a:rPr sz="1100">
                <a:solidFill>
                  <a:srgbClr val="FFD778"/>
                </a:solidFill>
              </a:rPr>
              <a:t>https://ai-build-hackathon.onrender.com</a:t>
            </a:r>
            <a:endParaRPr/>
          </a:p>
        </p:txBody>
      </p:sp>
      <p:sp>
        <p:nvSpPr>
          <p:cNvPr id="321" name="Google Shape;321;p21"/>
          <p:cNvSpPr/>
          <p:nvPr/>
        </p:nvSpPr>
        <p:spPr>
          <a:xfrm>
            <a:off x="8051598" y="2666933"/>
            <a:ext cx="3428914" cy="3174920"/>
          </a:xfrm>
          <a:prstGeom prst="roundRect">
            <a:avLst>
              <a:gd fmla="val 6000" name="adj"/>
            </a:avLst>
          </a:prstGeom>
          <a:solidFill>
            <a:srgbClr val="17130E"/>
          </a:solidFill>
          <a:ln cap="flat" cmpd="sng" w="12700">
            <a:solidFill>
              <a:srgbClr val="332D2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2" name="Google Shape;322;p21"/>
          <p:cNvSpPr txBox="1"/>
          <p:nvPr/>
        </p:nvSpPr>
        <p:spPr>
          <a:xfrm>
            <a:off x="8280192" y="2870128"/>
            <a:ext cx="2984425" cy="19049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  <a:defRPr>
                <a:solidFill/>
              </a:defRPr>
            </a:pPr>
            <a:r>
              <a:rPr b="1" i="0" lang="en-US" sz="950">
                <a:solidFill>
                  <a:srgbClr val="F2B632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MEMBER 03</a:t>
            </a:r>
            <a:endParaRPr/>
          </a:p>
        </p:txBody>
      </p:sp>
      <p:sp>
        <p:nvSpPr>
          <p:cNvPr id="323" name="Google Shape;323;p21"/>
          <p:cNvSpPr txBox="1"/>
          <p:nvPr/>
        </p:nvSpPr>
        <p:spPr>
          <a:xfrm>
            <a:off x="8280192" y="3174920"/>
            <a:ext cx="2984425" cy="4444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  <a:defRPr sz="1700" b="1">
                <a:solidFill>
                  <a:srgbClr val="FFD778"/>
                </a:solidFill>
              </a:defRPr>
            </a:pPr>
            <a:r>
              <a:rPr sz="1700" b="1">
                <a:solidFill>
                  <a:srgbClr val="FFD778"/>
                </a:solidFill>
              </a:rPr>
              <a:t>Audit Reflection Guardrail</a:t>
            </a:r>
            <a:endParaRPr/>
          </a:p>
        </p:txBody>
      </p:sp>
      <p:sp>
        <p:nvSpPr>
          <p:cNvPr id="324" name="Google Shape;324;p21"/>
          <p:cNvSpPr txBox="1"/>
          <p:nvPr/>
        </p:nvSpPr>
        <p:spPr>
          <a:xfrm>
            <a:off x="8280192" y="3873403"/>
            <a:ext cx="1015974" cy="25399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  <a:defRPr>
                <a:solidFill/>
              </a:defRPr>
            </a:pPr>
            <a:r>
              <a:rPr b="1" i="0" lang="en-US" sz="850">
                <a:solidFill>
                  <a:srgbClr val="F5B937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COLLEGE</a:t>
            </a:r>
            <a:endParaRPr/>
          </a:p>
        </p:txBody>
      </p:sp>
      <p:sp>
        <p:nvSpPr>
          <p:cNvPr id="325" name="Google Shape;325;p21"/>
          <p:cNvSpPr txBox="1"/>
          <p:nvPr/>
        </p:nvSpPr>
        <p:spPr>
          <a:xfrm>
            <a:off x="9321566" y="3848003"/>
            <a:ext cx="1968450" cy="3809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F8FAFC"/>
                </a:solidFill>
              </a:defRPr>
            </a:pPr>
            <a:r>
              <a:rPr sz="1200">
                <a:solidFill>
                  <a:srgbClr val="F8FAFC"/>
                </a:solidFill>
              </a:rPr>
              <a:t>CVC Compliance Engine</a:t>
            </a:r>
            <a:endParaRPr/>
          </a:p>
        </p:txBody>
      </p:sp>
      <p:sp>
        <p:nvSpPr>
          <p:cNvPr id="326" name="Google Shape;326;p21"/>
          <p:cNvSpPr txBox="1"/>
          <p:nvPr/>
        </p:nvSpPr>
        <p:spPr>
          <a:xfrm>
            <a:off x="8280192" y="4330591"/>
            <a:ext cx="1015974" cy="25399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  <a:defRPr>
                <a:solidFill/>
              </a:defRPr>
            </a:pPr>
            <a:r>
              <a:rPr b="1" i="0" lang="en-US" sz="850">
                <a:solidFill>
                  <a:srgbClr val="F5B937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YEAR</a:t>
            </a:r>
            <a:endParaRPr/>
          </a:p>
        </p:txBody>
      </p:sp>
      <p:sp>
        <p:nvSpPr>
          <p:cNvPr id="327" name="Google Shape;327;p21"/>
          <p:cNvSpPr txBox="1"/>
          <p:nvPr/>
        </p:nvSpPr>
        <p:spPr>
          <a:xfrm>
            <a:off x="9321566" y="4305192"/>
            <a:ext cx="1968450" cy="3809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F8FAFC"/>
                </a:solidFill>
              </a:defRPr>
            </a:pPr>
            <a:r>
              <a:rPr sz="1200">
                <a:solidFill>
                  <a:srgbClr val="F8FAFC"/>
                </a:solidFill>
              </a:rPr>
              <a:t>Verification Layer</a:t>
            </a:r>
            <a:endParaRPr/>
          </a:p>
        </p:txBody>
      </p:sp>
      <p:sp>
        <p:nvSpPr>
          <p:cNvPr id="328" name="Google Shape;328;p21"/>
          <p:cNvSpPr txBox="1"/>
          <p:nvPr/>
        </p:nvSpPr>
        <p:spPr>
          <a:xfrm>
            <a:off x="8280192" y="4787780"/>
            <a:ext cx="1015974" cy="25399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  <a:defRPr>
                <a:solidFill/>
              </a:defRPr>
            </a:pPr>
            <a:r>
              <a:rPr b="1" i="0" lang="en-US" sz="850">
                <a:solidFill>
                  <a:srgbClr val="F5B937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ROLE</a:t>
            </a:r>
            <a:endParaRPr/>
          </a:p>
        </p:txBody>
      </p:sp>
      <p:sp>
        <p:nvSpPr>
          <p:cNvPr id="329" name="Google Shape;329;p21"/>
          <p:cNvSpPr txBox="1"/>
          <p:nvPr/>
        </p:nvSpPr>
        <p:spPr>
          <a:xfrm>
            <a:off x="9321566" y="4762380"/>
            <a:ext cx="1968450" cy="3809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  <a:defRPr sz="1100">
                <a:solidFill>
                  <a:srgbClr val="F8FAFC"/>
                </a:solidFill>
              </a:defRPr>
            </a:pPr>
            <a:r>
              <a:rPr sz="1100">
                <a:solidFill>
                  <a:srgbClr val="F8FAFC"/>
                </a:solidFill>
              </a:rPr>
              <a:t>Self-Correction &amp; Trajectory Logging</a:t>
            </a:r>
            <a:endParaRPr/>
          </a:p>
        </p:txBody>
      </p:sp>
      <p:sp>
        <p:nvSpPr>
          <p:cNvPr id="330" name="Google Shape;330;p21"/>
          <p:cNvSpPr txBox="1"/>
          <p:nvPr/>
        </p:nvSpPr>
        <p:spPr>
          <a:xfrm>
            <a:off x="8280192" y="5244968"/>
            <a:ext cx="1015974" cy="25399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  <a:defRPr>
                <a:solidFill/>
              </a:defRPr>
            </a:pPr>
            <a:r>
              <a:rPr b="1" i="0" lang="en-US" sz="850">
                <a:solidFill>
                  <a:srgbClr val="F5B937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LINKEDIN</a:t>
            </a:r>
            <a:endParaRPr/>
          </a:p>
        </p:txBody>
      </p:sp>
      <p:sp>
        <p:nvSpPr>
          <p:cNvPr id="331" name="Google Shape;331;p21"/>
          <p:cNvSpPr txBox="1"/>
          <p:nvPr/>
        </p:nvSpPr>
        <p:spPr>
          <a:xfrm>
            <a:off x="9321566" y="5219569"/>
            <a:ext cx="1968450" cy="3809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  <a:defRPr sz="1100">
                <a:solidFill>
                  <a:srgbClr val="FFD778"/>
                </a:solidFill>
              </a:defRPr>
            </a:pPr>
            <a:r>
              <a:rPr sz="1100">
                <a:solidFill>
                  <a:srgbClr val="FFD778"/>
                </a:solidFill>
              </a:rPr>
              <a:t>https://ai-build-hackathon.onrender.com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5" name="Shape 3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ot.png" id="336" name="Google Shape;336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1695" cy="6857828"/>
          </a:xfrm>
          <a:prstGeom prst="rect">
            <a:avLst/>
          </a:prstGeom>
          <a:noFill/>
          <a:ln>
            <a:noFill/>
          </a:ln>
        </p:spPr>
      </p:pic>
      <p:sp>
        <p:nvSpPr>
          <p:cNvPr id="337" name="Google Shape;337;p22"/>
          <p:cNvSpPr txBox="1"/>
          <p:nvPr/>
        </p:nvSpPr>
        <p:spPr>
          <a:xfrm>
            <a:off x="711182" y="558786"/>
            <a:ext cx="4444888" cy="25399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  <a:defRPr>
                <a:solidFill/>
              </a:defRPr>
            </a:pPr>
            <a:r>
              <a:rPr b="1" i="0" lang="en-US" sz="1300">
                <a:solidFill>
                  <a:srgbClr val="F4EFE6"/>
                </a:solidFill>
                <a:latin typeface="Space Grotesk"/>
                <a:ea typeface="Space Grotesk"/>
                <a:cs typeface="Space Grotesk"/>
                <a:sym typeface="Space Grotesk"/>
              </a:rPr>
              <a:t>✱  BFWAI/HACK 26</a:t>
            </a:r>
            <a:endParaRPr/>
          </a:p>
        </p:txBody>
      </p:sp>
      <p:sp>
        <p:nvSpPr>
          <p:cNvPr id="338" name="Google Shape;338;p22"/>
          <p:cNvSpPr txBox="1"/>
          <p:nvPr/>
        </p:nvSpPr>
        <p:spPr>
          <a:xfrm>
            <a:off x="6984825" y="571485"/>
            <a:ext cx="4495687" cy="25399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  <a:defRPr>
                <a:solidFill/>
              </a:defRPr>
            </a:pPr>
            <a:r>
              <a:rPr b="0" i="0" lang="en-US" sz="1100">
                <a:solidFill>
                  <a:srgbClr val="F8FAFC"/>
                </a:solidFill>
                <a:latin typeface="Space Grotesk"/>
                <a:ea typeface="Space Grotesk"/>
                <a:cs typeface="Space Grotesk"/>
                <a:sym typeface="Space Grotesk"/>
              </a:rPr>
              <a:t>Thank you</a:t>
            </a:r>
            <a:endParaRPr/>
          </a:p>
        </p:txBody>
      </p:sp>
      <p:cxnSp>
        <p:nvCxnSpPr>
          <p:cNvPr id="339" name="Google Shape;339;p22"/>
          <p:cNvCxnSpPr/>
          <p:nvPr/>
        </p:nvCxnSpPr>
        <p:spPr>
          <a:xfrm>
            <a:off x="711182" y="6286342"/>
            <a:ext cx="10769330" cy="0"/>
          </a:xfrm>
          <a:prstGeom prst="straightConnector1">
            <a:avLst/>
          </a:prstGeom>
          <a:noFill/>
          <a:ln cap="flat" cmpd="sng" w="9525">
            <a:solidFill>
              <a:srgbClr val="332D25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sp>
        <p:nvSpPr>
          <p:cNvPr id="340" name="Google Shape;340;p22"/>
          <p:cNvSpPr txBox="1"/>
          <p:nvPr/>
        </p:nvSpPr>
        <p:spPr>
          <a:xfrm>
            <a:off x="711182" y="6413339"/>
            <a:ext cx="5714857" cy="22859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  <a:defRPr>
                <a:solidFill/>
              </a:defRPr>
            </a:pPr>
            <a:r>
              <a:rPr b="1" i="0" lang="en-US" sz="1100">
                <a:solidFill>
                  <a:srgbClr val="F4EFE6"/>
                </a:solidFill>
                <a:latin typeface="Space Grotesk"/>
                <a:ea typeface="Space Grotesk"/>
                <a:cs typeface="Space Grotesk"/>
                <a:sym typeface="Space Grotesk"/>
              </a:rPr>
              <a:t>buildfastwithai.com/hackathon ↗</a:t>
            </a:r>
            <a:endParaRPr/>
          </a:p>
        </p:txBody>
      </p:sp>
      <p:sp>
        <p:nvSpPr>
          <p:cNvPr id="341" name="Google Shape;341;p22"/>
          <p:cNvSpPr txBox="1"/>
          <p:nvPr/>
        </p:nvSpPr>
        <p:spPr>
          <a:xfrm>
            <a:off x="8254793" y="6426039"/>
            <a:ext cx="3225719" cy="22859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  <a:defRPr>
                <a:solidFill/>
              </a:defRPr>
            </a:pPr>
            <a:r>
              <a:rPr b="0" i="0" lang="en-US" sz="900">
                <a:solidFill>
                  <a:srgbClr val="E1E6F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10 / 10</a:t>
            </a:r>
            <a:endParaRPr/>
          </a:p>
        </p:txBody>
      </p:sp>
      <p:sp>
        <p:nvSpPr>
          <p:cNvPr id="342" name="Google Shape;342;p22"/>
          <p:cNvSpPr txBox="1"/>
          <p:nvPr/>
        </p:nvSpPr>
        <p:spPr>
          <a:xfrm>
            <a:off x="711182" y="2984425"/>
            <a:ext cx="5714857" cy="19049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  <a:defRPr sz="1400" b="1">
                <a:solidFill>
                  <a:srgbClr val="F5B937"/>
                </a:solidFill>
              </a:defRPr>
            </a:pPr>
            <a:r>
              <a:rPr sz="1400" b="1">
                <a:solidFill>
                  <a:srgbClr val="F5B937"/>
                </a:solidFill>
              </a:rPr>
              <a:t>TeAm AsPirE · PS-04 (AI Decision Engine for Business Data)</a:t>
            </a:r>
            <a:endParaRPr/>
          </a:p>
        </p:txBody>
      </p:sp>
      <p:sp>
        <p:nvSpPr>
          <p:cNvPr id="343" name="Google Shape;343;p22"/>
          <p:cNvSpPr txBox="1"/>
          <p:nvPr/>
        </p:nvSpPr>
        <p:spPr>
          <a:xfrm>
            <a:off x="711182" y="3238419"/>
            <a:ext cx="10159746" cy="139696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rgbClr val="FFFFFF"/>
                </a:solidFill>
              </a:defRPr>
            </a:pPr>
            <a:r>
              <a:rPr sz="4200" b="1">
                <a:solidFill>
                  <a:srgbClr val="FFFFFF"/>
                </a:solidFill>
              </a:rPr>
              <a:t>Thank you.</a:t>
            </a:r>
            <a:endParaRPr/>
          </a:p>
          <a:p>
            <a:pPr>
              <a:defRPr sz="4200" b="1">
                <a:solidFill>
                  <a:srgbClr val="FFFFFF"/>
                </a:solidFill>
              </a:defRPr>
            </a:pPr>
            <a:r>
              <a:rPr sz="4200" b="1">
                <a:solidFill>
                  <a:srgbClr val="FFFFFF"/>
                </a:solidFill>
              </a:rPr>
              <a:t>TenderPulse AI</a:t>
            </a:r>
          </a:p>
        </p:txBody>
      </p:sp>
      <p:sp>
        <p:nvSpPr>
          <p:cNvPr id="344" name="Google Shape;344;p22"/>
          <p:cNvSpPr txBox="1"/>
          <p:nvPr/>
        </p:nvSpPr>
        <p:spPr>
          <a:xfrm>
            <a:off x="711182" y="5079873"/>
            <a:ext cx="5714857" cy="19049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rgbClr val="F5B937"/>
                </a:solidFill>
              </a:defRPr>
            </a:pPr>
            <a:r>
              <a:rPr sz="1200" b="1">
                <a:solidFill>
                  <a:srgbClr val="F5B937"/>
                </a:solidFill>
              </a:rPr>
              <a:t>PROJECT DELIVERABLES &amp; LIVE DEPLOYMENT</a:t>
            </a:r>
            <a:endParaRPr/>
          </a:p>
        </p:txBody>
      </p:sp>
      <p:sp>
        <p:nvSpPr>
          <p:cNvPr id="345" name="Google Shape;345;p22"/>
          <p:cNvSpPr txBox="1"/>
          <p:nvPr/>
        </p:nvSpPr>
        <p:spPr>
          <a:xfrm>
            <a:off x="711182" y="5333866"/>
            <a:ext cx="8889777" cy="31749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rgbClr val="FFD778"/>
                </a:solidFill>
              </a:defRPr>
            </a:pPr>
            <a:r>
              <a:rPr sz="1400">
                <a:solidFill>
                  <a:srgbClr val="FFD778"/>
                </a:solidFill>
              </a:rPr>
              <a:t>Live App: https://ai-build-hackathon.onrender.com/  |  Repo: https://github.com/darshan-s-44/AI_build_hackathon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